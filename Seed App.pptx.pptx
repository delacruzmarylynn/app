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Canva Sans Bold" charset="1" panose="020B0803030501040103"/>
      <p:regular r:id="rId44"/>
    </p:embeddedFont>
    <p:embeddedFont>
      <p:font typeface="Canva Sans" charset="1" panose="020B0503030501040103"/>
      <p:regular r:id="rId52"/>
    </p:embeddedFont>
    <p:embeddedFont>
      <p:font typeface="Canva Sans Italics" charset="1" panose="020B0503030501040103"/>
      <p:regular r:id="rId58"/>
    </p:embeddedFont>
    <p:embeddedFont>
      <p:font typeface="Canva Sans Bold Italics" charset="1" panose="020B0803030501040103"/>
      <p:regular r:id="rId59"/>
    </p:embeddedFont>
    <p:embeddedFont>
      <p:font typeface="Calibri (MS)" charset="1" panose="020F0502020204030204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notesMasters/notesMaster1.xml" Type="http://schemas.openxmlformats.org/officeDocument/2006/relationships/notesMaster"/><Relationship Id="rId46" Target="theme/theme2.xml" Type="http://schemas.openxmlformats.org/officeDocument/2006/relationships/theme"/><Relationship Id="rId47" Target="notesSlides/notesSlide1.xml" Type="http://schemas.openxmlformats.org/officeDocument/2006/relationships/notesSlide"/><Relationship Id="rId48" Target="notesSlides/notesSlide2.xml" Type="http://schemas.openxmlformats.org/officeDocument/2006/relationships/notesSlide"/><Relationship Id="rId49" Target="notesSlides/notesSlide3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4.xml" Type="http://schemas.openxmlformats.org/officeDocument/2006/relationships/notesSlide"/><Relationship Id="rId51" Target="notesSlides/notesSlide5.xml" Type="http://schemas.openxmlformats.org/officeDocument/2006/relationships/notesSlide"/><Relationship Id="rId52" Target="fonts/font52.fntdata" Type="http://schemas.openxmlformats.org/officeDocument/2006/relationships/font"/><Relationship Id="rId53" Target="notesSlides/notesSlide6.xml" Type="http://schemas.openxmlformats.org/officeDocument/2006/relationships/notesSlide"/><Relationship Id="rId54" Target="notesSlides/notesSlide7.xml" Type="http://schemas.openxmlformats.org/officeDocument/2006/relationships/notesSlide"/><Relationship Id="rId55" Target="notesSlides/notesSlide8.xml" Type="http://schemas.openxmlformats.org/officeDocument/2006/relationships/notesSlide"/><Relationship Id="rId56" Target="notesSlides/notesSlide9.xml" Type="http://schemas.openxmlformats.org/officeDocument/2006/relationships/notesSlide"/><Relationship Id="rId57" Target="notesSlides/notesSlide10.xml" Type="http://schemas.openxmlformats.org/officeDocument/2006/relationships/notesSlide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notesSlides/notesSlide11.xml" Type="http://schemas.openxmlformats.org/officeDocument/2006/relationships/notesSlide"/><Relationship Id="rId61" Target="notesSlides/notesSlide12.xml" Type="http://schemas.openxmlformats.org/officeDocument/2006/relationships/notesSlide"/><Relationship Id="rId62" Target="notesSlides/notesSlide13.xml" Type="http://schemas.openxmlformats.org/officeDocument/2006/relationships/notesSlide"/><Relationship Id="rId63" Target="notesSlides/notesSlide14.xml" Type="http://schemas.openxmlformats.org/officeDocument/2006/relationships/notesSlide"/><Relationship Id="rId64" Target="notesSlides/notesSlide15.xml" Type="http://schemas.openxmlformats.org/officeDocument/2006/relationships/notesSlide"/><Relationship Id="rId65" Target="fonts/font65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Behavior:</a:t>
            </a:r>
          </a:p>
          <a:p>
            <a:r>
              <a:rPr lang="en-US"/>
              <a:t/>
            </a:r>
          </a:p>
          <a:p>
            <a:r>
              <a:rPr lang="en-US"/>
              <a:t>Displays options (Download, Status, Exit).</a:t>
            </a:r>
          </a:p>
          <a:p>
            <a:r>
              <a:rPr lang="en-US"/>
              <a:t/>
            </a:r>
          </a:p>
          <a:p>
            <a:r>
              <a:rPr lang="en-US"/>
              <a:t>Reads user input.</a:t>
            </a:r>
          </a:p>
          <a:p>
            <a:r>
              <a:rPr lang="en-US"/>
              <a:t/>
            </a:r>
          </a:p>
          <a:p>
            <a:r>
              <a:rPr lang="en-US"/>
              <a:t>Coordinates actions like starting downloads or showing status.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Behavior:</a:t>
            </a:r>
          </a:p>
          <a:p>
            <a:r>
              <a:rPr lang="en-US"/>
              <a:t/>
            </a:r>
          </a:p>
          <a:p>
            <a:r>
              <a:rPr lang="en-US"/>
              <a:t>Runs Host::accept_clients() in a loop.</a:t>
            </a:r>
          </a:p>
          <a:p>
            <a:r>
              <a:rPr lang="en-US"/>
              <a:t/>
            </a:r>
          </a:p>
          <a:p>
            <a:r>
              <a:rPr lang="en-US"/>
              <a:t>For each incoming connection, spawns a ClientThread (accept multiple requests from the client) and PeerThread (to connect to other seed apps)</a:t>
            </a:r>
          </a:p>
          <a:p>
            <a:r>
              <a:rPr lang="en-US"/>
              <a:t/>
            </a:r>
          </a:p>
          <a:p>
            <a:r>
              <a:rPr lang="en-US"/>
              <a:t>Handles requests like file listing or chunk serving.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3. Tick Thread</a:t>
            </a:r>
          </a:p>
          <a:p>
            <a:r>
              <a:rPr lang="en-US"/>
              <a:t>Role: Periodically refreshes download jobs.</a:t>
            </a:r>
          </a:p>
          <a:p>
            <a:r>
              <a:rPr lang="en-US"/>
              <a:t/>
            </a:r>
          </a:p>
          <a:p>
            <a:r>
              <a:rPr lang="en-US"/>
              <a:t>Behavior:</a:t>
            </a:r>
          </a:p>
          <a:p>
            <a:r>
              <a:rPr lang="en-US"/>
              <a:t/>
            </a:r>
          </a:p>
          <a:p>
            <a:r>
              <a:rPr lang="en-US"/>
              <a:t>Specifically, it Refreshes seeders, checks stalled jobs, and updates status every 2 seconds.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workers will claim chunks in the file which are available, reads that and writes into a file mark for completion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Each seed app instance reserves one port (9000–9004)</a:t>
            </a:r>
          </a:p>
          <a:p>
            <a:r>
              <a:rPr lang="en-US"/>
              <a:t>On that port:</a:t>
            </a:r>
          </a:p>
          <a:p>
            <a:r>
              <a:rPr lang="en-US"/>
              <a:t>It creates one listening socket (used only for accept() calls) from other seed app.</a:t>
            </a:r>
          </a:p>
          <a:p>
            <a:r>
              <a:rPr lang="en-US"/>
              <a:t>When other seed app connects:</a:t>
            </a:r>
          </a:p>
          <a:p>
            <a:r>
              <a:rPr lang="en-US"/>
              <a:t>accept() returns a new client socket</a:t>
            </a:r>
          </a:p>
          <a:p>
            <a:r>
              <a:rPr lang="en-US"/>
              <a:t>A new thread is spawned to handle that client socket.</a:t>
            </a:r>
          </a:p>
          <a:p>
            <a:r>
              <a:rPr lang="en-US"/>
              <a:t>Outgoing connections</a:t>
            </a:r>
          </a:p>
          <a:p>
            <a:r>
              <a:rPr lang="en-US"/>
              <a:t>creates client sockets to connect to other peers’ server ports.</a:t>
            </a:r>
          </a:p>
          <a:p>
            <a:r>
              <a:rPr lang="en-US"/>
              <a:t>Each client socket is independent of the listening socket.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Port Manager scans a fixed range (9000–9004).</a:t>
            </a:r>
          </a:p>
          <a:p>
            <a:r>
              <a:rPr lang="en-US"/>
              <a:t>First free port → reserved for the server socket. This will be the port of the app.</a:t>
            </a:r>
          </a:p>
          <a:p>
            <a:r>
              <a:rPr lang="en-US"/>
              <a:t/>
            </a:r>
          </a:p>
          <a:p>
            <a:r>
              <a:rPr lang="en-US"/>
              <a:t>Now, To discover peers:</a:t>
            </a:r>
          </a:p>
          <a:p>
            <a:r>
              <a:rPr lang="en-US"/>
              <a:t>The app attempts to connect to other ports in the range. What seed apps are currently up or open right now?</a:t>
            </a:r>
          </a:p>
          <a:p>
            <a:r>
              <a:rPr lang="en-US"/>
              <a:t>If connection succeeds,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Upon searching, it discovers that Seed App 9001 is now up.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connection now succeeds, both of this apps can now request and download files.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Now, after connecting successfully, the user can down navigate to the menu.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Now, after connecting successfully, the user can down navigate to the menu.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Now, after connecting successfully, the user can down navigate to the menu.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Now, after connecting successfully, the user can down navigate to the menu.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When all chunks are done, the .part file is renamed to the final filename. The job state becomes Completed. WorkerExitGuard in worker_run() handles the final rename and marks the job completed. “At any time, the user can check download status. The manager prints progress, seeder ports, and state.” download_manager::get_status_string() builds the status line.</a:t>
            </a:r>
          </a:p>
          <a:p>
            <a:r>
              <a:rPr lang="en-US"/>
              <a:t>37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When all chunks are done, the .part file is renamed to the final filename. The job state becomes Completed. WorkerExitGuard in worker_run() handles the final rename and marks the job completed. “At any time, the user can check download status. The manager prints progress, seeder ports, and state.” download_manager::get_status_string() builds the status line.</a:t>
            </a:r>
          </a:p>
          <a:p>
            <a:r>
              <a:rPr lang="en-US"/>
              <a:t>37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When all chunks are done, the .part file is renamed to the final filename. The job state becomes Completed. WorkerExitGuard in worker_run() handles the final rename and marks the job completed. “At any time, the user can check download status. The manager prints progress, seeder ports, and state.” download_manager::get_status_string() builds the status line.</a:t>
            </a:r>
          </a:p>
          <a:p>
            <a:r>
              <a:rPr lang="en-US"/>
              <a:t>37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17" Target="../media/image38.png" Type="http://schemas.openxmlformats.org/officeDocument/2006/relationships/image"/><Relationship Id="rId18" Target="../media/image39.svg" Type="http://schemas.openxmlformats.org/officeDocument/2006/relationships/image"/><Relationship Id="rId19" Target="../media/image40.pn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41.svg" Type="http://schemas.openxmlformats.org/officeDocument/2006/relationships/image"/><Relationship Id="rId21" Target="../media/image42.png" Type="http://schemas.openxmlformats.org/officeDocument/2006/relationships/image"/><Relationship Id="rId22" Target="../media/image43.svg" Type="http://schemas.openxmlformats.org/officeDocument/2006/relationships/image"/><Relationship Id="rId23" Target="../media/image44.png" Type="http://schemas.openxmlformats.org/officeDocument/2006/relationships/image"/><Relationship Id="rId24" Target="../media/image45.svg" Type="http://schemas.openxmlformats.org/officeDocument/2006/relationships/image"/><Relationship Id="rId25" Target="../media/image46.png" Type="http://schemas.openxmlformats.org/officeDocument/2006/relationships/image"/><Relationship Id="rId26" Target="../media/image47.svg" Type="http://schemas.openxmlformats.org/officeDocument/2006/relationships/image"/><Relationship Id="rId27" Target="../media/image48.png" Type="http://schemas.openxmlformats.org/officeDocument/2006/relationships/image"/><Relationship Id="rId28" Target="../media/image49.sv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16" Target="../media/image50.png" Type="http://schemas.openxmlformats.org/officeDocument/2006/relationships/image"/><Relationship Id="rId17" Target="../media/image51.svg" Type="http://schemas.openxmlformats.org/officeDocument/2006/relationships/image"/><Relationship Id="rId18" Target="../media/image52.png" Type="http://schemas.openxmlformats.org/officeDocument/2006/relationships/image"/><Relationship Id="rId19" Target="../media/image53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16" Target="../media/image50.png" Type="http://schemas.openxmlformats.org/officeDocument/2006/relationships/image"/><Relationship Id="rId17" Target="../media/image51.svg" Type="http://schemas.openxmlformats.org/officeDocument/2006/relationships/image"/><Relationship Id="rId18" Target="../media/image52.png" Type="http://schemas.openxmlformats.org/officeDocument/2006/relationships/image"/><Relationship Id="rId19" Target="../media/image53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16" Target="../media/image50.png" Type="http://schemas.openxmlformats.org/officeDocument/2006/relationships/image"/><Relationship Id="rId17" Target="../media/image51.svg" Type="http://schemas.openxmlformats.org/officeDocument/2006/relationships/image"/><Relationship Id="rId18" Target="../media/image52.png" Type="http://schemas.openxmlformats.org/officeDocument/2006/relationships/image"/><Relationship Id="rId19" Target="../media/image53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17" Target="../media/image50.png" Type="http://schemas.openxmlformats.org/officeDocument/2006/relationships/image"/><Relationship Id="rId18" Target="../media/image51.svg" Type="http://schemas.openxmlformats.org/officeDocument/2006/relationships/image"/><Relationship Id="rId19" Target="../media/image52.pn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53.sv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17" Target="../media/image50.png" Type="http://schemas.openxmlformats.org/officeDocument/2006/relationships/image"/><Relationship Id="rId18" Target="../media/image51.svg" Type="http://schemas.openxmlformats.org/officeDocument/2006/relationships/image"/><Relationship Id="rId19" Target="../media/image52.png" Type="http://schemas.openxmlformats.org/officeDocument/2006/relationships/image"/><Relationship Id="rId2" Target="../notesSlides/notesSlide7.xml" Type="http://schemas.openxmlformats.org/officeDocument/2006/relationships/notesSlide"/><Relationship Id="rId20" Target="../media/image53.sv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17" Target="../media/image50.png" Type="http://schemas.openxmlformats.org/officeDocument/2006/relationships/image"/><Relationship Id="rId18" Target="../media/image51.svg" Type="http://schemas.openxmlformats.org/officeDocument/2006/relationships/image"/><Relationship Id="rId19" Target="../media/image7.png" Type="http://schemas.openxmlformats.org/officeDocument/2006/relationships/image"/><Relationship Id="rId2" Target="../notesSlides/notesSlide8.xml" Type="http://schemas.openxmlformats.org/officeDocument/2006/relationships/notesSlide"/><Relationship Id="rId20" Target="../media/image8.sv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5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5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jpeg" Type="http://schemas.openxmlformats.org/officeDocument/2006/relationships/image"/><Relationship Id="rId2" Target="../media/image61.jpe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67.pn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Relationship Id="rId6" Target="../media/image74.png" Type="http://schemas.openxmlformats.org/officeDocument/2006/relationships/image"/><Relationship Id="rId7" Target="../media/image7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6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7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8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6200" y="685800"/>
            <a:ext cx="10820400" cy="1737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Seed App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3033" y="3317527"/>
            <a:ext cx="9353927" cy="550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8598" indent="-396199" lvl="2">
              <a:lnSpc>
                <a:spcPts val="7278"/>
              </a:lnSpc>
              <a:buFont typeface="Arial"/>
              <a:buChar char="⚬"/>
            </a:pPr>
            <a:r>
              <a:rPr lang="en-US" b="true" sz="5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Peer-to-peer file sharing system</a:t>
            </a:r>
          </a:p>
          <a:p>
            <a:pPr algn="l" marL="1188598" indent="-396199" lvl="2">
              <a:lnSpc>
                <a:spcPts val="7278"/>
              </a:lnSpc>
              <a:buFont typeface="Arial"/>
              <a:buChar char="⚬"/>
            </a:pPr>
            <a:r>
              <a:rPr lang="en-US" b="true" sz="5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instance acts as both client and server</a:t>
            </a:r>
          </a:p>
          <a:p>
            <a:pPr algn="l" marL="1188598" indent="-396199" lvl="2">
              <a:lnSpc>
                <a:spcPts val="7278"/>
              </a:lnSpc>
              <a:buFont typeface="Arial"/>
              <a:buChar char="⚬"/>
            </a:pPr>
            <a:r>
              <a:rPr lang="en-US" b="true" sz="5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 file downloads</a:t>
            </a:r>
          </a:p>
          <a:p>
            <a:pPr algn="l" marL="1188598" indent="-396199" lvl="2">
              <a:lnSpc>
                <a:spcPts val="7278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0461392" y="3412777"/>
            <a:ext cx="7239965" cy="4593182"/>
            <a:chOff x="0" y="0"/>
            <a:chExt cx="9653287" cy="61242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4883" y="554726"/>
              <a:ext cx="3052904" cy="3052904"/>
            </a:xfrm>
            <a:custGeom>
              <a:avLst/>
              <a:gdLst/>
              <a:ahLst/>
              <a:cxnLst/>
              <a:rect r="r" b="b" t="t" l="l"/>
              <a:pathLst>
                <a:path h="3052904" w="3052904">
                  <a:moveTo>
                    <a:pt x="0" y="0"/>
                  </a:moveTo>
                  <a:lnTo>
                    <a:pt x="3052904" y="0"/>
                  </a:lnTo>
                  <a:lnTo>
                    <a:pt x="3052904" y="3052904"/>
                  </a:lnTo>
                  <a:lnTo>
                    <a:pt x="0" y="3052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010973" y="554726"/>
              <a:ext cx="3052904" cy="3052904"/>
            </a:xfrm>
            <a:custGeom>
              <a:avLst/>
              <a:gdLst/>
              <a:ahLst/>
              <a:cxnLst/>
              <a:rect r="r" b="b" t="t" l="l"/>
              <a:pathLst>
                <a:path h="3052904" w="3052904">
                  <a:moveTo>
                    <a:pt x="0" y="0"/>
                  </a:moveTo>
                  <a:lnTo>
                    <a:pt x="3052904" y="0"/>
                  </a:lnTo>
                  <a:lnTo>
                    <a:pt x="3052904" y="3052904"/>
                  </a:lnTo>
                  <a:lnTo>
                    <a:pt x="0" y="3052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42098" y="4254441"/>
              <a:ext cx="836769" cy="1074503"/>
            </a:xfrm>
            <a:custGeom>
              <a:avLst/>
              <a:gdLst/>
              <a:ahLst/>
              <a:cxnLst/>
              <a:rect r="r" b="b" t="t" l="l"/>
              <a:pathLst>
                <a:path h="1074503" w="836769">
                  <a:moveTo>
                    <a:pt x="0" y="0"/>
                  </a:moveTo>
                  <a:lnTo>
                    <a:pt x="836769" y="0"/>
                  </a:lnTo>
                  <a:lnTo>
                    <a:pt x="836769" y="1074503"/>
                  </a:lnTo>
                  <a:lnTo>
                    <a:pt x="0" y="1074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19040" y="4254441"/>
              <a:ext cx="836769" cy="1074503"/>
            </a:xfrm>
            <a:custGeom>
              <a:avLst/>
              <a:gdLst/>
              <a:ahLst/>
              <a:cxnLst/>
              <a:rect r="r" b="b" t="t" l="l"/>
              <a:pathLst>
                <a:path h="1074503" w="836769">
                  <a:moveTo>
                    <a:pt x="0" y="0"/>
                  </a:moveTo>
                  <a:lnTo>
                    <a:pt x="836770" y="0"/>
                  </a:lnTo>
                  <a:lnTo>
                    <a:pt x="836770" y="1074503"/>
                  </a:lnTo>
                  <a:lnTo>
                    <a:pt x="0" y="1074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41335" y="4254441"/>
              <a:ext cx="836769" cy="1074503"/>
            </a:xfrm>
            <a:custGeom>
              <a:avLst/>
              <a:gdLst/>
              <a:ahLst/>
              <a:cxnLst/>
              <a:rect r="r" b="b" t="t" l="l"/>
              <a:pathLst>
                <a:path h="1074503" w="836769">
                  <a:moveTo>
                    <a:pt x="0" y="0"/>
                  </a:moveTo>
                  <a:lnTo>
                    <a:pt x="836769" y="0"/>
                  </a:lnTo>
                  <a:lnTo>
                    <a:pt x="836769" y="1074503"/>
                  </a:lnTo>
                  <a:lnTo>
                    <a:pt x="0" y="1074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48346" y="5647117"/>
              <a:ext cx="477126" cy="477126"/>
            </a:xfrm>
            <a:custGeom>
              <a:avLst/>
              <a:gdLst/>
              <a:ahLst/>
              <a:cxnLst/>
              <a:rect r="r" b="b" t="t" l="l"/>
              <a:pathLst>
                <a:path h="477126" w="477126">
                  <a:moveTo>
                    <a:pt x="0" y="0"/>
                  </a:moveTo>
                  <a:lnTo>
                    <a:pt x="477126" y="0"/>
                  </a:lnTo>
                  <a:lnTo>
                    <a:pt x="477126" y="477126"/>
                  </a:lnTo>
                  <a:lnTo>
                    <a:pt x="0" y="477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1157" y="5647117"/>
              <a:ext cx="477126" cy="477126"/>
            </a:xfrm>
            <a:custGeom>
              <a:avLst/>
              <a:gdLst/>
              <a:ahLst/>
              <a:cxnLst/>
              <a:rect r="r" b="b" t="t" l="l"/>
              <a:pathLst>
                <a:path h="477126" w="477126">
                  <a:moveTo>
                    <a:pt x="0" y="0"/>
                  </a:moveTo>
                  <a:lnTo>
                    <a:pt x="477126" y="0"/>
                  </a:lnTo>
                  <a:lnTo>
                    <a:pt x="477126" y="477126"/>
                  </a:lnTo>
                  <a:lnTo>
                    <a:pt x="0" y="477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298862" y="5647117"/>
              <a:ext cx="477126" cy="477126"/>
            </a:xfrm>
            <a:custGeom>
              <a:avLst/>
              <a:gdLst/>
              <a:ahLst/>
              <a:cxnLst/>
              <a:rect r="r" b="b" t="t" l="l"/>
              <a:pathLst>
                <a:path h="477126" w="477126">
                  <a:moveTo>
                    <a:pt x="0" y="0"/>
                  </a:moveTo>
                  <a:lnTo>
                    <a:pt x="477126" y="0"/>
                  </a:lnTo>
                  <a:lnTo>
                    <a:pt x="477126" y="477126"/>
                  </a:lnTo>
                  <a:lnTo>
                    <a:pt x="0" y="477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757197" y="1415354"/>
              <a:ext cx="1664366" cy="1587389"/>
            </a:xfrm>
            <a:custGeom>
              <a:avLst/>
              <a:gdLst/>
              <a:ahLst/>
              <a:cxnLst/>
              <a:rect r="r" b="b" t="t" l="l"/>
              <a:pathLst>
                <a:path h="1587389" w="1664366">
                  <a:moveTo>
                    <a:pt x="0" y="0"/>
                  </a:moveTo>
                  <a:lnTo>
                    <a:pt x="1664366" y="0"/>
                  </a:lnTo>
                  <a:lnTo>
                    <a:pt x="1664366" y="1587390"/>
                  </a:lnTo>
                  <a:lnTo>
                    <a:pt x="0" y="158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548346" y="1328914"/>
              <a:ext cx="2185978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Seed App 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444436" y="1555367"/>
              <a:ext cx="2185978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Seed App 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3642314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both client and server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010973" y="-28575"/>
              <a:ext cx="3642314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both client and server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38687" y="3019732"/>
            <a:ext cx="2203391" cy="1882898"/>
          </a:xfrm>
          <a:custGeom>
            <a:avLst/>
            <a:gdLst/>
            <a:ahLst/>
            <a:cxnLst/>
            <a:rect r="r" b="b" t="t" l="l"/>
            <a:pathLst>
              <a:path h="1882898" w="2203391">
                <a:moveTo>
                  <a:pt x="0" y="0"/>
                </a:moveTo>
                <a:lnTo>
                  <a:pt x="2203391" y="0"/>
                </a:lnTo>
                <a:lnTo>
                  <a:pt x="2203391" y="1882898"/>
                </a:lnTo>
                <a:lnTo>
                  <a:pt x="0" y="1882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66641" y="3060460"/>
            <a:ext cx="2334389" cy="2326888"/>
            <a:chOff x="0" y="0"/>
            <a:chExt cx="3112519" cy="310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4473" cy="1360956"/>
            </a:xfrm>
            <a:custGeom>
              <a:avLst/>
              <a:gdLst/>
              <a:ahLst/>
              <a:cxnLst/>
              <a:rect r="r" b="b" t="t" l="l"/>
              <a:pathLst>
                <a:path h="1360956" w="1434473">
                  <a:moveTo>
                    <a:pt x="0" y="0"/>
                  </a:moveTo>
                  <a:lnTo>
                    <a:pt x="1434473" y="0"/>
                  </a:lnTo>
                  <a:lnTo>
                    <a:pt x="1434473" y="1360956"/>
                  </a:lnTo>
                  <a:lnTo>
                    <a:pt x="0" y="1360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678046" y="0"/>
              <a:ext cx="1434473" cy="1360956"/>
            </a:xfrm>
            <a:custGeom>
              <a:avLst/>
              <a:gdLst/>
              <a:ahLst/>
              <a:cxnLst/>
              <a:rect r="r" b="b" t="t" l="l"/>
              <a:pathLst>
                <a:path h="1360956" w="1434473">
                  <a:moveTo>
                    <a:pt x="0" y="0"/>
                  </a:moveTo>
                  <a:lnTo>
                    <a:pt x="1434473" y="0"/>
                  </a:lnTo>
                  <a:lnTo>
                    <a:pt x="1434473" y="1360956"/>
                  </a:lnTo>
                  <a:lnTo>
                    <a:pt x="0" y="1360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1736607"/>
              <a:ext cx="1434473" cy="1360956"/>
            </a:xfrm>
            <a:custGeom>
              <a:avLst/>
              <a:gdLst/>
              <a:ahLst/>
              <a:cxnLst/>
              <a:rect r="r" b="b" t="t" l="l"/>
              <a:pathLst>
                <a:path h="1360956" w="1434473">
                  <a:moveTo>
                    <a:pt x="0" y="0"/>
                  </a:moveTo>
                  <a:lnTo>
                    <a:pt x="1434473" y="0"/>
                  </a:lnTo>
                  <a:lnTo>
                    <a:pt x="1434473" y="1360956"/>
                  </a:lnTo>
                  <a:lnTo>
                    <a:pt x="0" y="1360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678046" y="1741562"/>
              <a:ext cx="1434473" cy="1360956"/>
            </a:xfrm>
            <a:custGeom>
              <a:avLst/>
              <a:gdLst/>
              <a:ahLst/>
              <a:cxnLst/>
              <a:rect r="r" b="b" t="t" l="l"/>
              <a:pathLst>
                <a:path h="1360956" w="1434473">
                  <a:moveTo>
                    <a:pt x="0" y="0"/>
                  </a:moveTo>
                  <a:lnTo>
                    <a:pt x="1434473" y="0"/>
                  </a:lnTo>
                  <a:lnTo>
                    <a:pt x="1434473" y="1360956"/>
                  </a:lnTo>
                  <a:lnTo>
                    <a:pt x="0" y="1360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485463" y="3060460"/>
            <a:ext cx="2481299" cy="2183543"/>
          </a:xfrm>
          <a:custGeom>
            <a:avLst/>
            <a:gdLst/>
            <a:ahLst/>
            <a:cxnLst/>
            <a:rect r="r" b="b" t="t" l="l"/>
            <a:pathLst>
              <a:path h="2183543" w="2481299">
                <a:moveTo>
                  <a:pt x="0" y="0"/>
                </a:moveTo>
                <a:lnTo>
                  <a:pt x="2481299" y="0"/>
                </a:lnTo>
                <a:lnTo>
                  <a:pt x="2481299" y="2183543"/>
                </a:lnTo>
                <a:lnTo>
                  <a:pt x="0" y="21835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52687" y="4223904"/>
            <a:ext cx="3154773" cy="394347"/>
          </a:xfrm>
          <a:custGeom>
            <a:avLst/>
            <a:gdLst/>
            <a:ahLst/>
            <a:cxnLst/>
            <a:rect r="r" b="b" t="t" l="l"/>
            <a:pathLst>
              <a:path h="394347" w="3154773">
                <a:moveTo>
                  <a:pt x="0" y="0"/>
                </a:moveTo>
                <a:lnTo>
                  <a:pt x="3154773" y="0"/>
                </a:lnTo>
                <a:lnTo>
                  <a:pt x="3154773" y="394346"/>
                </a:lnTo>
                <a:lnTo>
                  <a:pt x="0" y="394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1751" y="5614811"/>
            <a:ext cx="4789677" cy="145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8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discovery peers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62901" y="5614811"/>
            <a:ext cx="3741868" cy="141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8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Seeder validation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85794" y="5614835"/>
            <a:ext cx="3120971" cy="145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Chunked downloads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38612" y="5614811"/>
            <a:ext cx="3543005" cy="219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 monitoring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0851" y="933450"/>
            <a:ext cx="3151227" cy="8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5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upports: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8376" y="287398"/>
            <a:ext cx="827835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THREADING MODEL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090589" y="3530050"/>
            <a:ext cx="2398633" cy="3581072"/>
            <a:chOff x="0" y="0"/>
            <a:chExt cx="3198177" cy="47747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08612" y="0"/>
              <a:ext cx="2580953" cy="2580953"/>
            </a:xfrm>
            <a:custGeom>
              <a:avLst/>
              <a:gdLst/>
              <a:ahLst/>
              <a:cxnLst/>
              <a:rect r="r" b="b" t="t" l="l"/>
              <a:pathLst>
                <a:path h="2580953" w="2580953">
                  <a:moveTo>
                    <a:pt x="0" y="0"/>
                  </a:moveTo>
                  <a:lnTo>
                    <a:pt x="2580953" y="0"/>
                  </a:lnTo>
                  <a:lnTo>
                    <a:pt x="2580953" y="2580953"/>
                  </a:lnTo>
                  <a:lnTo>
                    <a:pt x="0" y="258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3327086"/>
              <a:ext cx="3198177" cy="1447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6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Main 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thread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81985" y="3253516"/>
            <a:ext cx="2791897" cy="3857606"/>
            <a:chOff x="0" y="0"/>
            <a:chExt cx="3722529" cy="5143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10688" y="0"/>
              <a:ext cx="2949665" cy="2949665"/>
            </a:xfrm>
            <a:custGeom>
              <a:avLst/>
              <a:gdLst/>
              <a:ahLst/>
              <a:cxnLst/>
              <a:rect r="r" b="b" t="t" l="l"/>
              <a:pathLst>
                <a:path h="2949665" w="2949665">
                  <a:moveTo>
                    <a:pt x="0" y="0"/>
                  </a:moveTo>
                  <a:lnTo>
                    <a:pt x="2949665" y="0"/>
                  </a:lnTo>
                  <a:lnTo>
                    <a:pt x="2949665" y="2949665"/>
                  </a:lnTo>
                  <a:lnTo>
                    <a:pt x="0" y="2949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3695797"/>
              <a:ext cx="3722529" cy="1447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6"/>
                </a:lnSpc>
              </a:pPr>
              <a:r>
                <a:rPr lang="en-US" sz="3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Server 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Thread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69120" y="3407314"/>
            <a:ext cx="2875203" cy="3734870"/>
            <a:chOff x="0" y="0"/>
            <a:chExt cx="3833604" cy="49798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33604" cy="3263355"/>
            </a:xfrm>
            <a:custGeom>
              <a:avLst/>
              <a:gdLst/>
              <a:ahLst/>
              <a:cxnLst/>
              <a:rect r="r" b="b" t="t" l="l"/>
              <a:pathLst>
                <a:path h="3263355" w="3833604">
                  <a:moveTo>
                    <a:pt x="0" y="0"/>
                  </a:moveTo>
                  <a:lnTo>
                    <a:pt x="3833604" y="0"/>
                  </a:lnTo>
                  <a:lnTo>
                    <a:pt x="3833604" y="3263355"/>
                  </a:lnTo>
                  <a:lnTo>
                    <a:pt x="0" y="3263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91294" y="3532149"/>
              <a:ext cx="3051016" cy="1447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6"/>
                </a:lnSpc>
              </a:pPr>
              <a:r>
                <a:rPr lang="en-US" sz="3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Tick 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Thread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35114" y="3144816"/>
            <a:ext cx="2914769" cy="3997368"/>
            <a:chOff x="0" y="0"/>
            <a:chExt cx="3886359" cy="5329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488" y="0"/>
              <a:ext cx="3377384" cy="3377384"/>
            </a:xfrm>
            <a:custGeom>
              <a:avLst/>
              <a:gdLst/>
              <a:ahLst/>
              <a:cxnLst/>
              <a:rect r="r" b="b" t="t" l="l"/>
              <a:pathLst>
                <a:path h="3377384" w="3377384">
                  <a:moveTo>
                    <a:pt x="0" y="0"/>
                  </a:moveTo>
                  <a:lnTo>
                    <a:pt x="3377383" y="0"/>
                  </a:lnTo>
                  <a:lnTo>
                    <a:pt x="3377383" y="3377384"/>
                  </a:lnTo>
                  <a:lnTo>
                    <a:pt x="0" y="337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3882146"/>
              <a:ext cx="3886359" cy="1447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6"/>
                </a:lnSpc>
              </a:pPr>
              <a:r>
                <a:rPr lang="en-US" sz="3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Worker 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Thread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8376" y="287398"/>
            <a:ext cx="827835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THREADING MODEL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04786" y="2685102"/>
            <a:ext cx="4191286" cy="6257439"/>
            <a:chOff x="0" y="0"/>
            <a:chExt cx="5588382" cy="83432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39258" y="0"/>
              <a:ext cx="4509866" cy="4509866"/>
            </a:xfrm>
            <a:custGeom>
              <a:avLst/>
              <a:gdLst/>
              <a:ahLst/>
              <a:cxnLst/>
              <a:rect r="r" b="b" t="t" l="l"/>
              <a:pathLst>
                <a:path h="4509866" w="4509866">
                  <a:moveTo>
                    <a:pt x="0" y="0"/>
                  </a:moveTo>
                  <a:lnTo>
                    <a:pt x="4509866" y="0"/>
                  </a:lnTo>
                  <a:lnTo>
                    <a:pt x="4509866" y="4509866"/>
                  </a:lnTo>
                  <a:lnTo>
                    <a:pt x="0" y="4509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5799193"/>
              <a:ext cx="5588382" cy="2544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22"/>
                </a:lnSpc>
                <a:spcBef>
                  <a:spcPct val="0"/>
                </a:spcBef>
              </a:pPr>
              <a:r>
                <a:rPr lang="en-US" b="true" sz="559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Main </a:t>
              </a:r>
            </a:p>
            <a:p>
              <a:pPr algn="ctr">
                <a:lnSpc>
                  <a:spcPts val="7827"/>
                </a:lnSpc>
                <a:spcBef>
                  <a:spcPct val="0"/>
                </a:spcBef>
              </a:pPr>
              <a:r>
                <a:rPr lang="en-US" b="true" sz="559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thread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596072" y="4014415"/>
            <a:ext cx="1717131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andles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user interface and men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 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loop.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8376" y="287398"/>
            <a:ext cx="827835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THREADING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96072" y="4014415"/>
            <a:ext cx="1717131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ep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incoming peer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onnections.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77498" y="2572903"/>
            <a:ext cx="3720878" cy="5141193"/>
            <a:chOff x="0" y="0"/>
            <a:chExt cx="4961171" cy="6854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80616" y="0"/>
              <a:ext cx="3931142" cy="3931142"/>
            </a:xfrm>
            <a:custGeom>
              <a:avLst/>
              <a:gdLst/>
              <a:ahLst/>
              <a:cxnLst/>
              <a:rect r="r" b="b" t="t" l="l"/>
              <a:pathLst>
                <a:path h="3931142" w="3931142">
                  <a:moveTo>
                    <a:pt x="0" y="0"/>
                  </a:moveTo>
                  <a:lnTo>
                    <a:pt x="3931142" y="0"/>
                  </a:lnTo>
                  <a:lnTo>
                    <a:pt x="3931142" y="3931142"/>
                  </a:lnTo>
                  <a:lnTo>
                    <a:pt x="0" y="3931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4925510"/>
              <a:ext cx="4961171" cy="1929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6"/>
                </a:lnSpc>
              </a:pPr>
              <a:r>
                <a:rPr lang="en-US" sz="4264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Server </a:t>
              </a:r>
            </a:p>
            <a:p>
              <a:pPr algn="ctr">
                <a:lnSpc>
                  <a:spcPts val="5970"/>
                </a:lnSpc>
                <a:spcBef>
                  <a:spcPct val="0"/>
                </a:spcBef>
              </a:pPr>
              <a:r>
                <a:rPr lang="en-US" b="true" sz="4264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Thread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8376" y="287398"/>
            <a:ext cx="827835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THREADING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96072" y="4014415"/>
            <a:ext cx="1717131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eriodically refreshes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ownload jobs.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09294" y="3026752"/>
            <a:ext cx="2875203" cy="3734870"/>
            <a:chOff x="0" y="0"/>
            <a:chExt cx="3833604" cy="49798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33604" cy="3263355"/>
            </a:xfrm>
            <a:custGeom>
              <a:avLst/>
              <a:gdLst/>
              <a:ahLst/>
              <a:cxnLst/>
              <a:rect r="r" b="b" t="t" l="l"/>
              <a:pathLst>
                <a:path h="3263355" w="3833604">
                  <a:moveTo>
                    <a:pt x="0" y="0"/>
                  </a:moveTo>
                  <a:lnTo>
                    <a:pt x="3833604" y="0"/>
                  </a:lnTo>
                  <a:lnTo>
                    <a:pt x="3833604" y="3263355"/>
                  </a:lnTo>
                  <a:lnTo>
                    <a:pt x="0" y="3263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391294" y="3532149"/>
              <a:ext cx="3051016" cy="1447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6"/>
                </a:lnSpc>
              </a:pPr>
              <a:r>
                <a:rPr lang="en-US" sz="3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Tick 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Thread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8376" y="287398"/>
            <a:ext cx="827835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THREADING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96072" y="4014415"/>
            <a:ext cx="1717131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Perform actual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chu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nk downloads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48958" y="2967835"/>
            <a:ext cx="2914769" cy="3997368"/>
            <a:chOff x="0" y="0"/>
            <a:chExt cx="3886359" cy="53298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488" y="0"/>
              <a:ext cx="3377384" cy="3377384"/>
            </a:xfrm>
            <a:custGeom>
              <a:avLst/>
              <a:gdLst/>
              <a:ahLst/>
              <a:cxnLst/>
              <a:rect r="r" b="b" t="t" l="l"/>
              <a:pathLst>
                <a:path h="3377384" w="3377384">
                  <a:moveTo>
                    <a:pt x="0" y="0"/>
                  </a:moveTo>
                  <a:lnTo>
                    <a:pt x="3377383" y="0"/>
                  </a:lnTo>
                  <a:lnTo>
                    <a:pt x="3377383" y="3377384"/>
                  </a:lnTo>
                  <a:lnTo>
                    <a:pt x="0" y="337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3882146"/>
              <a:ext cx="3886359" cy="1447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6"/>
                </a:lnSpc>
              </a:pPr>
              <a:r>
                <a:rPr lang="en-US" sz="32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Worker </a:t>
              </a:r>
            </a:p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Thread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5433" y="243154"/>
            <a:ext cx="12902003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SERVER VS CLIENT SOCKET MODEL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55324" y="2543223"/>
            <a:ext cx="4331256" cy="5491505"/>
          </a:xfrm>
          <a:custGeom>
            <a:avLst/>
            <a:gdLst/>
            <a:ahLst/>
            <a:cxnLst/>
            <a:rect r="r" b="b" t="t" l="l"/>
            <a:pathLst>
              <a:path h="5491505" w="4331256">
                <a:moveTo>
                  <a:pt x="0" y="0"/>
                </a:moveTo>
                <a:lnTo>
                  <a:pt x="4331255" y="0"/>
                </a:lnTo>
                <a:lnTo>
                  <a:pt x="4331255" y="5491505"/>
                </a:lnTo>
                <a:lnTo>
                  <a:pt x="0" y="549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5470" y="2994689"/>
            <a:ext cx="1500530" cy="64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9000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356767" y="1136313"/>
            <a:ext cx="1902533" cy="1991716"/>
            <a:chOff x="0" y="0"/>
            <a:chExt cx="2536711" cy="26556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62268" y="293268"/>
              <a:ext cx="975639" cy="498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56767" y="3642703"/>
            <a:ext cx="1902533" cy="1991716"/>
            <a:chOff x="0" y="0"/>
            <a:chExt cx="2536711" cy="26556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356767" y="5821470"/>
            <a:ext cx="1902533" cy="1991716"/>
          </a:xfrm>
          <a:custGeom>
            <a:avLst/>
            <a:gdLst/>
            <a:ahLst/>
            <a:cxnLst/>
            <a:rect r="r" b="b" t="t" l="l"/>
            <a:pathLst>
              <a:path h="1991716" w="1902533">
                <a:moveTo>
                  <a:pt x="0" y="0"/>
                </a:moveTo>
                <a:lnTo>
                  <a:pt x="1902533" y="0"/>
                </a:lnTo>
                <a:lnTo>
                  <a:pt x="1902533" y="1991716"/>
                </a:lnTo>
                <a:lnTo>
                  <a:pt x="0" y="19917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403498" y="6064082"/>
            <a:ext cx="702364" cy="702364"/>
          </a:xfrm>
          <a:custGeom>
            <a:avLst/>
            <a:gdLst/>
            <a:ahLst/>
            <a:cxnLst/>
            <a:rect r="r" b="b" t="t" l="l"/>
            <a:pathLst>
              <a:path h="702364" w="702364">
                <a:moveTo>
                  <a:pt x="0" y="0"/>
                </a:moveTo>
                <a:lnTo>
                  <a:pt x="702364" y="0"/>
                </a:lnTo>
                <a:lnTo>
                  <a:pt x="702364" y="702364"/>
                </a:lnTo>
                <a:lnTo>
                  <a:pt x="0" y="7023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956852" y="6964213"/>
            <a:ext cx="702364" cy="702364"/>
          </a:xfrm>
          <a:custGeom>
            <a:avLst/>
            <a:gdLst/>
            <a:ahLst/>
            <a:cxnLst/>
            <a:rect r="r" b="b" t="t" l="l"/>
            <a:pathLst>
              <a:path h="702364" w="702364">
                <a:moveTo>
                  <a:pt x="0" y="0"/>
                </a:moveTo>
                <a:lnTo>
                  <a:pt x="702363" y="0"/>
                </a:lnTo>
                <a:lnTo>
                  <a:pt x="702363" y="702364"/>
                </a:lnTo>
                <a:lnTo>
                  <a:pt x="0" y="70236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478468" y="6022372"/>
            <a:ext cx="731730" cy="39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0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356767" y="7945545"/>
            <a:ext cx="1902533" cy="1991716"/>
            <a:chOff x="0" y="0"/>
            <a:chExt cx="2536711" cy="26556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506649" y="2668829"/>
            <a:ext cx="11309413" cy="1210904"/>
            <a:chOff x="0" y="0"/>
            <a:chExt cx="15079218" cy="16145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2733" y="127"/>
              <a:ext cx="15033625" cy="1614297"/>
            </a:xfrm>
            <a:custGeom>
              <a:avLst/>
              <a:gdLst/>
              <a:ahLst/>
              <a:cxnLst/>
              <a:rect r="r" b="b" t="t" l="l"/>
              <a:pathLst>
                <a:path h="1614297" w="15033625">
                  <a:moveTo>
                    <a:pt x="0" y="1563751"/>
                  </a:moveTo>
                  <a:lnTo>
                    <a:pt x="15028418" y="0"/>
                  </a:lnTo>
                  <a:lnTo>
                    <a:pt x="15033625" y="50546"/>
                  </a:lnTo>
                  <a:lnTo>
                    <a:pt x="5334" y="1614297"/>
                  </a:lnTo>
                  <a:close/>
                </a:path>
              </a:pathLst>
            </a:custGeom>
            <a:solidFill>
              <a:srgbClr val="FF313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396035" y="5146872"/>
            <a:ext cx="11420027" cy="233486"/>
            <a:chOff x="0" y="0"/>
            <a:chExt cx="15226703" cy="3113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019" y="0"/>
              <a:ext cx="15176754" cy="311277"/>
            </a:xfrm>
            <a:custGeom>
              <a:avLst/>
              <a:gdLst/>
              <a:ahLst/>
              <a:cxnLst/>
              <a:rect r="r" b="b" t="t" l="l"/>
              <a:pathLst>
                <a:path h="311277" w="15176754">
                  <a:moveTo>
                    <a:pt x="0" y="260477"/>
                  </a:moveTo>
                  <a:lnTo>
                    <a:pt x="15175866" y="0"/>
                  </a:lnTo>
                  <a:lnTo>
                    <a:pt x="15176754" y="50800"/>
                  </a:lnTo>
                  <a:lnTo>
                    <a:pt x="762" y="311277"/>
                  </a:lnTo>
                  <a:close/>
                </a:path>
              </a:pathLst>
            </a:custGeom>
            <a:solidFill>
              <a:srgbClr val="FF751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562142" y="6945163"/>
            <a:ext cx="11253930" cy="339004"/>
            <a:chOff x="0" y="0"/>
            <a:chExt cx="15005241" cy="4520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4765" y="0"/>
              <a:ext cx="14955773" cy="451993"/>
            </a:xfrm>
            <a:custGeom>
              <a:avLst/>
              <a:gdLst/>
              <a:ahLst/>
              <a:cxnLst/>
              <a:rect r="r" b="b" t="t" l="l"/>
              <a:pathLst>
                <a:path h="451993" w="14955773">
                  <a:moveTo>
                    <a:pt x="1270" y="0"/>
                  </a:moveTo>
                  <a:lnTo>
                    <a:pt x="14955773" y="401193"/>
                  </a:lnTo>
                  <a:lnTo>
                    <a:pt x="14954377" y="451993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665124" y="7794136"/>
            <a:ext cx="13150939" cy="1677724"/>
            <a:chOff x="0" y="0"/>
            <a:chExt cx="17534585" cy="22369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2225" y="254"/>
              <a:ext cx="17490060" cy="2236470"/>
            </a:xfrm>
            <a:custGeom>
              <a:avLst/>
              <a:gdLst/>
              <a:ahLst/>
              <a:cxnLst/>
              <a:rect r="r" b="b" t="t" l="l"/>
              <a:pathLst>
                <a:path h="2236470" w="17490060">
                  <a:moveTo>
                    <a:pt x="6350" y="0"/>
                  </a:moveTo>
                  <a:lnTo>
                    <a:pt x="17490060" y="2186051"/>
                  </a:lnTo>
                  <a:lnTo>
                    <a:pt x="17483710" y="2236470"/>
                  </a:lnTo>
                  <a:lnTo>
                    <a:pt x="0" y="50292"/>
                  </a:lnTo>
                  <a:close/>
                </a:path>
              </a:pathLst>
            </a:custGeom>
            <a:solidFill>
              <a:srgbClr val="5170FF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930812" y="4118572"/>
            <a:ext cx="1792072" cy="1792072"/>
          </a:xfrm>
          <a:custGeom>
            <a:avLst/>
            <a:gdLst/>
            <a:ahLst/>
            <a:cxnLst/>
            <a:rect r="r" b="b" t="t" l="l"/>
            <a:pathLst>
              <a:path h="1792072" w="1792072">
                <a:moveTo>
                  <a:pt x="0" y="0"/>
                </a:moveTo>
                <a:lnTo>
                  <a:pt x="1792071" y="0"/>
                </a:lnTo>
                <a:lnTo>
                  <a:pt x="1792071" y="1792072"/>
                </a:lnTo>
                <a:lnTo>
                  <a:pt x="0" y="179207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48912" y="4344286"/>
            <a:ext cx="1555861" cy="105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6"/>
              </a:lnSpc>
            </a:pPr>
            <a:r>
              <a:rPr lang="en-US" sz="28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server</a:t>
            </a:r>
          </a:p>
          <a:p>
            <a:pPr algn="ctr">
              <a:lnSpc>
                <a:spcPts val="4036"/>
              </a:lnSpc>
            </a:pPr>
            <a:r>
              <a:rPr lang="en-US" sz="28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socket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583579" y="6527273"/>
            <a:ext cx="1139304" cy="1139304"/>
          </a:xfrm>
          <a:custGeom>
            <a:avLst/>
            <a:gdLst/>
            <a:ahLst/>
            <a:cxnLst/>
            <a:rect r="r" b="b" t="t" l="l"/>
            <a:pathLst>
              <a:path h="1139304" w="1139304">
                <a:moveTo>
                  <a:pt x="0" y="0"/>
                </a:moveTo>
                <a:lnTo>
                  <a:pt x="1139304" y="0"/>
                </a:lnTo>
                <a:lnTo>
                  <a:pt x="1139304" y="1139304"/>
                </a:lnTo>
                <a:lnTo>
                  <a:pt x="0" y="113930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658664" y="6684340"/>
            <a:ext cx="989133" cy="65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5"/>
              </a:lnSpc>
            </a:pPr>
            <a:r>
              <a:rPr lang="en-US" sz="183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client</a:t>
            </a:r>
          </a:p>
          <a:p>
            <a:pPr algn="ctr">
              <a:lnSpc>
                <a:spcPts val="2565"/>
              </a:lnSpc>
            </a:pPr>
            <a:r>
              <a:rPr lang="en-US" sz="183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socket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3119571" y="6256915"/>
            <a:ext cx="1139304" cy="1139304"/>
          </a:xfrm>
          <a:custGeom>
            <a:avLst/>
            <a:gdLst/>
            <a:ahLst/>
            <a:cxnLst/>
            <a:rect r="r" b="b" t="t" l="l"/>
            <a:pathLst>
              <a:path h="1139304" w="1139304">
                <a:moveTo>
                  <a:pt x="0" y="0"/>
                </a:moveTo>
                <a:lnTo>
                  <a:pt x="1139304" y="0"/>
                </a:lnTo>
                <a:lnTo>
                  <a:pt x="1139304" y="1139305"/>
                </a:lnTo>
                <a:lnTo>
                  <a:pt x="0" y="11393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3194656" y="6413983"/>
            <a:ext cx="989133" cy="65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5"/>
              </a:lnSpc>
            </a:pPr>
            <a:r>
              <a:rPr lang="en-US" sz="1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client</a:t>
            </a:r>
          </a:p>
          <a:p>
            <a:pPr algn="ctr">
              <a:lnSpc>
                <a:spcPts val="2565"/>
              </a:lnSpc>
            </a:pPr>
            <a:r>
              <a:rPr lang="en-US" sz="1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socket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3119571" y="4683157"/>
            <a:ext cx="1139304" cy="1139304"/>
          </a:xfrm>
          <a:custGeom>
            <a:avLst/>
            <a:gdLst/>
            <a:ahLst/>
            <a:cxnLst/>
            <a:rect r="r" b="b" t="t" l="l"/>
            <a:pathLst>
              <a:path h="1139304" w="1139304">
                <a:moveTo>
                  <a:pt x="0" y="0"/>
                </a:moveTo>
                <a:lnTo>
                  <a:pt x="1139304" y="0"/>
                </a:lnTo>
                <a:lnTo>
                  <a:pt x="1139304" y="1139304"/>
                </a:lnTo>
                <a:lnTo>
                  <a:pt x="0" y="113930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3194656" y="4840224"/>
            <a:ext cx="989133" cy="65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5"/>
              </a:lnSpc>
            </a:pPr>
            <a:r>
              <a:rPr lang="en-US" sz="1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client</a:t>
            </a:r>
          </a:p>
          <a:p>
            <a:pPr algn="ctr">
              <a:lnSpc>
                <a:spcPts val="2565"/>
              </a:lnSpc>
            </a:pPr>
            <a:r>
              <a:rPr lang="en-US" sz="1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socket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3275781" y="3162233"/>
            <a:ext cx="1139304" cy="1139304"/>
          </a:xfrm>
          <a:custGeom>
            <a:avLst/>
            <a:gdLst/>
            <a:ahLst/>
            <a:cxnLst/>
            <a:rect r="r" b="b" t="t" l="l"/>
            <a:pathLst>
              <a:path h="1139304" w="1139304">
                <a:moveTo>
                  <a:pt x="0" y="0"/>
                </a:moveTo>
                <a:lnTo>
                  <a:pt x="1139304" y="0"/>
                </a:lnTo>
                <a:lnTo>
                  <a:pt x="1139304" y="1139305"/>
                </a:lnTo>
                <a:lnTo>
                  <a:pt x="0" y="113930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350866" y="3319310"/>
            <a:ext cx="989133" cy="65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5"/>
              </a:lnSpc>
            </a:pPr>
            <a:r>
              <a:rPr lang="en-US" sz="1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client</a:t>
            </a:r>
          </a:p>
          <a:p>
            <a:pPr algn="ctr">
              <a:lnSpc>
                <a:spcPts val="2565"/>
              </a:lnSpc>
            </a:pPr>
            <a:r>
              <a:rPr lang="en-US" sz="18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socket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69849" y="8320478"/>
            <a:ext cx="4428649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1480" indent="-137160" lvl="2">
              <a:lnSpc>
                <a:spcPts val="2520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server listening socket per port</a:t>
            </a:r>
          </a:p>
          <a:p>
            <a:pPr algn="l" marL="411480" indent="-137160" lvl="2">
              <a:lnSpc>
                <a:spcPts val="2520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 client sockets (one per connection), each handled in its own thread.</a:t>
            </a:r>
          </a:p>
          <a:p>
            <a:pPr algn="l" marL="411480" indent="-137160" lvl="2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12779" y="6766799"/>
            <a:ext cx="731730" cy="383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0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619849" y="6977535"/>
            <a:ext cx="1902533" cy="1991716"/>
            <a:chOff x="0" y="0"/>
            <a:chExt cx="2536711" cy="26556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62268" y="293268"/>
              <a:ext cx="975639" cy="498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83557" y="6977535"/>
            <a:ext cx="1902533" cy="1991716"/>
            <a:chOff x="0" y="0"/>
            <a:chExt cx="2536711" cy="26556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70284" y="6977535"/>
            <a:ext cx="1902533" cy="1991716"/>
            <a:chOff x="0" y="0"/>
            <a:chExt cx="2536711" cy="26556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95641" y="323482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00113" y="1523657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58742" y="6804899"/>
            <a:ext cx="1902533" cy="1991716"/>
            <a:chOff x="0" y="0"/>
            <a:chExt cx="2536711" cy="26556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6977535"/>
            <a:ext cx="1902533" cy="1991716"/>
            <a:chOff x="0" y="0"/>
            <a:chExt cx="2536711" cy="26556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62268" y="293268"/>
              <a:ext cx="975639" cy="462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82038" y="9105996"/>
            <a:ext cx="995858" cy="99585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AC94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4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5206294" y="9258300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7" y="0"/>
                </a:lnTo>
                <a:lnTo>
                  <a:pt x="640927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828800" y="2562225"/>
            <a:ext cx="15142912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 Manager scans a fixed range (9000–9004).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free port → reserved for the server socket.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discover peers: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app attempts to connect to other ports in the range.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connection succeeds, </a:t>
            </a:r>
          </a:p>
          <a:p>
            <a:pPr algn="l" marL="1388969" indent="-347242" lvl="3">
              <a:lnSpc>
                <a:spcPts val="475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5526757" y="442274"/>
            <a:ext cx="8322612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PEER &amp; PORT DISCOVERY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12779" y="6766799"/>
            <a:ext cx="731730" cy="383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0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619849" y="6977535"/>
            <a:ext cx="1902533" cy="1991716"/>
            <a:chOff x="0" y="0"/>
            <a:chExt cx="2536711" cy="26556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62268" y="293268"/>
              <a:ext cx="975639" cy="498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83557" y="6977535"/>
            <a:ext cx="1902533" cy="1991716"/>
            <a:chOff x="0" y="0"/>
            <a:chExt cx="2536711" cy="26556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70284" y="6977535"/>
            <a:ext cx="1902533" cy="1991716"/>
            <a:chOff x="0" y="0"/>
            <a:chExt cx="2536711" cy="26556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95641" y="323482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00113" y="1523657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58742" y="6804899"/>
            <a:ext cx="1902533" cy="1991716"/>
            <a:chOff x="0" y="0"/>
            <a:chExt cx="2536711" cy="26556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6977535"/>
            <a:ext cx="1902533" cy="1991716"/>
            <a:chOff x="0" y="0"/>
            <a:chExt cx="2536711" cy="26556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62268" y="293268"/>
              <a:ext cx="975639" cy="462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82038" y="9105996"/>
            <a:ext cx="995858" cy="99585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AC94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4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5206294" y="9258300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7" y="0"/>
                </a:lnTo>
                <a:lnTo>
                  <a:pt x="640927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828800" y="2562225"/>
            <a:ext cx="15142912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 Manager scans a fixed range (9000–9004).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free port → reserved for the server socket.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discover peers: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app attempts to connect to other ports in the range.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connection succeeds, </a:t>
            </a:r>
          </a:p>
          <a:p>
            <a:pPr algn="l" marL="1388969" indent="-347242" lvl="3">
              <a:lnSpc>
                <a:spcPts val="475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5526757" y="442274"/>
            <a:ext cx="8322612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PEER &amp; PORT DISCOVERY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614360" y="9273550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8" y="0"/>
                </a:lnTo>
                <a:lnTo>
                  <a:pt x="640928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12779" y="6766799"/>
            <a:ext cx="731730" cy="383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0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619849" y="6977535"/>
            <a:ext cx="1902533" cy="1991716"/>
            <a:chOff x="0" y="0"/>
            <a:chExt cx="2536711" cy="26556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62268" y="293268"/>
              <a:ext cx="975639" cy="498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83557" y="6977535"/>
            <a:ext cx="1902533" cy="1991716"/>
            <a:chOff x="0" y="0"/>
            <a:chExt cx="2536711" cy="26556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70284" y="6977535"/>
            <a:ext cx="1902533" cy="1991716"/>
            <a:chOff x="0" y="0"/>
            <a:chExt cx="2536711" cy="26556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95641" y="323482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00113" y="1523657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58742" y="6804899"/>
            <a:ext cx="1902533" cy="1991716"/>
            <a:chOff x="0" y="0"/>
            <a:chExt cx="2536711" cy="26556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6977535"/>
            <a:ext cx="1902533" cy="1991716"/>
            <a:chOff x="0" y="0"/>
            <a:chExt cx="2536711" cy="26556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62268" y="293268"/>
              <a:ext cx="975639" cy="462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82038" y="9105996"/>
            <a:ext cx="995858" cy="99585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AC94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4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5206294" y="9258300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7" y="0"/>
                </a:lnTo>
                <a:lnTo>
                  <a:pt x="640927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828800" y="2562225"/>
            <a:ext cx="15142912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 Manager scans a fixed range (9000–9004).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free port → reserved for the server socket.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discover peers: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app attempts to connect to other ports in the range.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connection succeeds, </a:t>
            </a:r>
          </a:p>
          <a:p>
            <a:pPr algn="l" marL="1388969" indent="-347242" lvl="3">
              <a:lnSpc>
                <a:spcPts val="475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5526757" y="442274"/>
            <a:ext cx="8322612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PEER &amp; PORT DISCOVERY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614360" y="9273550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8" y="0"/>
                </a:lnTo>
                <a:lnTo>
                  <a:pt x="640928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1823209" y="9229304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8" y="0"/>
                </a:lnTo>
                <a:lnTo>
                  <a:pt x="640928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12779" y="6766799"/>
            <a:ext cx="731730" cy="383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0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619849" y="6977535"/>
            <a:ext cx="1902533" cy="1991716"/>
            <a:chOff x="0" y="0"/>
            <a:chExt cx="2536711" cy="26556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62268" y="293268"/>
              <a:ext cx="975639" cy="498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83557" y="6977535"/>
            <a:ext cx="1902533" cy="1991716"/>
            <a:chOff x="0" y="0"/>
            <a:chExt cx="2536711" cy="26556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70284" y="6977535"/>
            <a:ext cx="1902533" cy="1991716"/>
            <a:chOff x="0" y="0"/>
            <a:chExt cx="2536711" cy="26556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95641" y="323482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00113" y="1523657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58742" y="6804899"/>
            <a:ext cx="1902533" cy="1991716"/>
            <a:chOff x="0" y="0"/>
            <a:chExt cx="2536711" cy="26556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6977535"/>
            <a:ext cx="1902533" cy="1991716"/>
            <a:chOff x="0" y="0"/>
            <a:chExt cx="2536711" cy="26556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62268" y="293268"/>
              <a:ext cx="975639" cy="462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82038" y="9105996"/>
            <a:ext cx="995858" cy="99585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AC94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4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5206294" y="9258300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7" y="0"/>
                </a:lnTo>
                <a:lnTo>
                  <a:pt x="640927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828800" y="2562225"/>
            <a:ext cx="15142912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 Manager scans a fixed range (9000–9004).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free port → reserved for the server socket.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discover peers: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app attempts to connect to other ports in the range.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connection succeeds, </a:t>
            </a:r>
          </a:p>
          <a:p>
            <a:pPr algn="l" marL="1388969" indent="-347242" lvl="3">
              <a:lnSpc>
                <a:spcPts val="475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5526757" y="442274"/>
            <a:ext cx="8322612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PEER &amp; PORT DISCOVERY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614360" y="9273550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8" y="0"/>
                </a:lnTo>
                <a:lnTo>
                  <a:pt x="640928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1823209" y="9229304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8" y="0"/>
                </a:lnTo>
                <a:lnTo>
                  <a:pt x="640928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389544" y="9229304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8" y="0"/>
                </a:lnTo>
                <a:lnTo>
                  <a:pt x="640928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12779" y="6766799"/>
            <a:ext cx="731730" cy="383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0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619849" y="6977535"/>
            <a:ext cx="1902533" cy="1991716"/>
            <a:chOff x="0" y="0"/>
            <a:chExt cx="2536711" cy="26556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62268" y="293268"/>
              <a:ext cx="975639" cy="498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83557" y="6977535"/>
            <a:ext cx="1902533" cy="1991716"/>
            <a:chOff x="0" y="0"/>
            <a:chExt cx="2536711" cy="26556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70284" y="6977535"/>
            <a:ext cx="1902533" cy="1991716"/>
            <a:chOff x="0" y="0"/>
            <a:chExt cx="2536711" cy="26556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95641" y="323482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00113" y="1523657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58742" y="6804899"/>
            <a:ext cx="1902533" cy="1991716"/>
            <a:chOff x="0" y="0"/>
            <a:chExt cx="2536711" cy="26556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6977535"/>
            <a:ext cx="1902533" cy="1991716"/>
            <a:chOff x="0" y="0"/>
            <a:chExt cx="2536711" cy="26556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62268" y="293268"/>
              <a:ext cx="975639" cy="462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82038" y="9105996"/>
            <a:ext cx="995858" cy="99585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AC94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4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828800" y="2562225"/>
            <a:ext cx="15142912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 Manager scans a fixed range (9000–9004).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free port → reserved for the server socket.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discover peers: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app attempts to connect to other ports in the range.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connection succeeds, </a:t>
            </a:r>
          </a:p>
          <a:p>
            <a:pPr algn="l" marL="1388969" indent="-347242" lvl="3">
              <a:lnSpc>
                <a:spcPts val="475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526757" y="442274"/>
            <a:ext cx="8322612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PEER &amp; PORT DISCOVERY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8614360" y="9273550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8" y="0"/>
                </a:lnTo>
                <a:lnTo>
                  <a:pt x="640928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823209" y="9229304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8" y="0"/>
                </a:lnTo>
                <a:lnTo>
                  <a:pt x="640928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389544" y="9229304"/>
            <a:ext cx="640928" cy="660750"/>
          </a:xfrm>
          <a:custGeom>
            <a:avLst/>
            <a:gdLst/>
            <a:ahLst/>
            <a:cxnLst/>
            <a:rect r="r" b="b" t="t" l="l"/>
            <a:pathLst>
              <a:path h="660750" w="640928">
                <a:moveTo>
                  <a:pt x="0" y="0"/>
                </a:moveTo>
                <a:lnTo>
                  <a:pt x="640928" y="0"/>
                </a:lnTo>
                <a:lnTo>
                  <a:pt x="640928" y="660750"/>
                </a:lnTo>
                <a:lnTo>
                  <a:pt x="0" y="660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5028829" y="9105996"/>
            <a:ext cx="995858" cy="995858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4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12779" y="6766799"/>
            <a:ext cx="731730" cy="383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0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619849" y="6977535"/>
            <a:ext cx="1902533" cy="1991716"/>
            <a:chOff x="0" y="0"/>
            <a:chExt cx="2536711" cy="26556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62268" y="293268"/>
              <a:ext cx="975639" cy="498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83557" y="6977535"/>
            <a:ext cx="1902533" cy="1991716"/>
            <a:chOff x="0" y="0"/>
            <a:chExt cx="2536711" cy="26556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70284" y="6977535"/>
            <a:ext cx="1902533" cy="1991716"/>
            <a:chOff x="0" y="0"/>
            <a:chExt cx="2536711" cy="26556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95641" y="323482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00113" y="1523657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58742" y="6804899"/>
            <a:ext cx="1902533" cy="1991716"/>
            <a:chOff x="0" y="0"/>
            <a:chExt cx="2536711" cy="26556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62268" y="280568"/>
              <a:ext cx="975639" cy="511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6977535"/>
            <a:ext cx="1902533" cy="1991716"/>
            <a:chOff x="0" y="0"/>
            <a:chExt cx="2536711" cy="26556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36711" cy="2655621"/>
            </a:xfrm>
            <a:custGeom>
              <a:avLst/>
              <a:gdLst/>
              <a:ahLst/>
              <a:cxnLst/>
              <a:rect r="r" b="b" t="t" l="l"/>
              <a:pathLst>
                <a:path h="2655621" w="2536711">
                  <a:moveTo>
                    <a:pt x="0" y="0"/>
                  </a:moveTo>
                  <a:lnTo>
                    <a:pt x="2536711" y="0"/>
                  </a:lnTo>
                  <a:lnTo>
                    <a:pt x="2536711" y="2655621"/>
                  </a:lnTo>
                  <a:lnTo>
                    <a:pt x="0" y="265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395641" y="323494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6"/>
                  </a:lnTo>
                  <a:lnTo>
                    <a:pt x="0" y="93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00113" y="1523670"/>
              <a:ext cx="936485" cy="936485"/>
            </a:xfrm>
            <a:custGeom>
              <a:avLst/>
              <a:gdLst/>
              <a:ahLst/>
              <a:cxnLst/>
              <a:rect r="r" b="b" t="t" l="l"/>
              <a:pathLst>
                <a:path h="936485" w="936485">
                  <a:moveTo>
                    <a:pt x="0" y="0"/>
                  </a:moveTo>
                  <a:lnTo>
                    <a:pt x="936485" y="0"/>
                  </a:lnTo>
                  <a:lnTo>
                    <a:pt x="936485" y="936485"/>
                  </a:lnTo>
                  <a:lnTo>
                    <a:pt x="0" y="936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62268" y="293268"/>
              <a:ext cx="975639" cy="462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4"/>
                </a:lnSpc>
              </a:pPr>
              <a:r>
                <a:rPr lang="en-US" sz="20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82038" y="9105996"/>
            <a:ext cx="995858" cy="99585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AC94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28829" y="9105996"/>
            <a:ext cx="995858" cy="99585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4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828800" y="2562225"/>
            <a:ext cx="15142912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 Manager scans a fixed range (9000–9004).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free port → reserved for the server socket.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discover peers: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app attempts to connect to other ports in the range.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connection succeeds, it can now request and download files.</a:t>
            </a:r>
          </a:p>
          <a:p>
            <a:pPr algn="l" marL="1388969" indent="-347242" lvl="3">
              <a:lnSpc>
                <a:spcPts val="4759"/>
              </a:lnSpc>
            </a:pP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3278644" y="8911311"/>
            <a:ext cx="1248275" cy="1190542"/>
          </a:xfrm>
          <a:custGeom>
            <a:avLst/>
            <a:gdLst/>
            <a:ahLst/>
            <a:cxnLst/>
            <a:rect r="r" b="b" t="t" l="l"/>
            <a:pathLst>
              <a:path h="1190542" w="1248275">
                <a:moveTo>
                  <a:pt x="0" y="0"/>
                </a:moveTo>
                <a:lnTo>
                  <a:pt x="1248275" y="0"/>
                </a:lnTo>
                <a:lnTo>
                  <a:pt x="1248275" y="1190542"/>
                </a:lnTo>
                <a:lnTo>
                  <a:pt x="0" y="119054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5526757" y="442274"/>
            <a:ext cx="8322612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PEER &amp; PORT DISCOVERY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34657" y="2931257"/>
            <a:ext cx="8723747" cy="4291136"/>
            <a:chOff x="0" y="0"/>
            <a:chExt cx="11631663" cy="57215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31676" cy="5721477"/>
            </a:xfrm>
            <a:custGeom>
              <a:avLst/>
              <a:gdLst/>
              <a:ahLst/>
              <a:cxnLst/>
              <a:rect r="r" b="b" t="t" l="l"/>
              <a:pathLst>
                <a:path h="5721477" w="11631676">
                  <a:moveTo>
                    <a:pt x="0" y="0"/>
                  </a:moveTo>
                  <a:lnTo>
                    <a:pt x="11631676" y="0"/>
                  </a:lnTo>
                  <a:lnTo>
                    <a:pt x="11631676" y="5721477"/>
                  </a:lnTo>
                  <a:lnTo>
                    <a:pt x="0" y="5721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19434" y="442274"/>
            <a:ext cx="821199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MENU OPTIONS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6833" y="4227031"/>
            <a:ext cx="964960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 1 - Download File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6833" y="5010150"/>
            <a:ext cx="964960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 2 - Download Status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6833" y="7609837"/>
            <a:ext cx="964960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46833" y="5918434"/>
            <a:ext cx="964960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 3 - Exit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82075" y="1921488"/>
            <a:ext cx="8077225" cy="7336812"/>
          </a:xfrm>
          <a:custGeom>
            <a:avLst/>
            <a:gdLst/>
            <a:ahLst/>
            <a:cxnLst/>
            <a:rect r="r" b="b" t="t" l="l"/>
            <a:pathLst>
              <a:path h="7336812" w="8077225">
                <a:moveTo>
                  <a:pt x="0" y="0"/>
                </a:moveTo>
                <a:lnTo>
                  <a:pt x="8077225" y="0"/>
                </a:lnTo>
                <a:lnTo>
                  <a:pt x="8077225" y="7336812"/>
                </a:lnTo>
                <a:lnTo>
                  <a:pt x="0" y="7336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19434" y="442274"/>
            <a:ext cx="821199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MENU OPTIONS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1079" y="2329417"/>
            <a:ext cx="6727351" cy="591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 1 - Download File</a:t>
            </a:r>
          </a:p>
          <a:p>
            <a:pPr algn="l" marL="1813560" indent="-604520" lvl="2">
              <a:lnSpc>
                <a:spcPts val="5880"/>
              </a:lnSpc>
              <a:buAutoNum type="alphaLcPeriod" startAt="1"/>
            </a:pPr>
            <a:r>
              <a:rPr lang="en-US" b="true" sz="4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Discover files from other peers</a:t>
            </a:r>
          </a:p>
          <a:p>
            <a:pPr algn="l" marL="1813560" indent="-604520" lvl="2">
              <a:lnSpc>
                <a:spcPts val="5880"/>
              </a:lnSpc>
              <a:buAutoNum type="alphaLcPeriod" startAt="1"/>
            </a:pPr>
            <a:r>
              <a:rPr lang="en-US" b="true" sz="4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file by ID</a:t>
            </a:r>
          </a:p>
          <a:p>
            <a:pPr algn="l" marL="1813560" indent="-604520" lvl="2">
              <a:lnSpc>
                <a:spcPts val="5880"/>
              </a:lnSpc>
              <a:buAutoNum type="alphaLcPeriod" startAt="1"/>
            </a:pPr>
            <a:r>
              <a:rPr lang="en-US" b="true" sz="4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Resolve live seeders</a:t>
            </a:r>
          </a:p>
          <a:p>
            <a:pPr algn="l" marL="1813560" indent="-604520" lvl="2">
              <a:lnSpc>
                <a:spcPts val="5880"/>
              </a:lnSpc>
              <a:buAutoNum type="alphaLcPeriod" startAt="1"/>
            </a:pPr>
            <a:r>
              <a:rPr lang="en-US" b="true" sz="4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 download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60745" y="4818412"/>
            <a:ext cx="6942944" cy="4897736"/>
            <a:chOff x="0" y="0"/>
            <a:chExt cx="9257259" cy="65303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57284" cy="6530340"/>
            </a:xfrm>
            <a:custGeom>
              <a:avLst/>
              <a:gdLst/>
              <a:ahLst/>
              <a:cxnLst/>
              <a:rect r="r" b="b" t="t" l="l"/>
              <a:pathLst>
                <a:path h="6530340" w="9257284">
                  <a:moveTo>
                    <a:pt x="0" y="0"/>
                  </a:moveTo>
                  <a:lnTo>
                    <a:pt x="9257284" y="0"/>
                  </a:lnTo>
                  <a:lnTo>
                    <a:pt x="9257284" y="6530340"/>
                  </a:lnTo>
                  <a:lnTo>
                    <a:pt x="0" y="6530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60745" y="1603991"/>
            <a:ext cx="6774151" cy="3035046"/>
            <a:chOff x="0" y="0"/>
            <a:chExt cx="9032202" cy="40467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32240" cy="4046728"/>
            </a:xfrm>
            <a:custGeom>
              <a:avLst/>
              <a:gdLst/>
              <a:ahLst/>
              <a:cxnLst/>
              <a:rect r="r" b="b" t="t" l="l"/>
              <a:pathLst>
                <a:path h="4046728" w="9032240">
                  <a:moveTo>
                    <a:pt x="0" y="0"/>
                  </a:moveTo>
                  <a:lnTo>
                    <a:pt x="9032240" y="0"/>
                  </a:lnTo>
                  <a:lnTo>
                    <a:pt x="9032240" y="4046728"/>
                  </a:lnTo>
                  <a:lnTo>
                    <a:pt x="0" y="4046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19434" y="442274"/>
            <a:ext cx="11419789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DISCOVERY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6833" y="2653027"/>
            <a:ext cx="9649606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Client connects to each peer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sends choice 1 → list files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Parses filename\t&lt;size&gt; format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Deduplicates by file.key() (name+size)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Sort alphabetically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Builds network_file list </a:t>
            </a:r>
          </a:p>
          <a:p>
            <a:pPr algn="l" marL="777244" indent="-259081" lvl="2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5702" y="6123489"/>
            <a:ext cx="6584213" cy="3778968"/>
            <a:chOff x="0" y="0"/>
            <a:chExt cx="8778951" cy="5038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79002" cy="5038598"/>
            </a:xfrm>
            <a:custGeom>
              <a:avLst/>
              <a:gdLst/>
              <a:ahLst/>
              <a:cxnLst/>
              <a:rect r="r" b="b" t="t" l="l"/>
              <a:pathLst>
                <a:path h="5038598" w="8779002">
                  <a:moveTo>
                    <a:pt x="0" y="0"/>
                  </a:moveTo>
                  <a:lnTo>
                    <a:pt x="8779002" y="0"/>
                  </a:lnTo>
                  <a:lnTo>
                    <a:pt x="8779002" y="5038598"/>
                  </a:lnTo>
                  <a:lnTo>
                    <a:pt x="0" y="5038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78529" y="5858132"/>
            <a:ext cx="8751608" cy="3852748"/>
            <a:chOff x="0" y="0"/>
            <a:chExt cx="11668811" cy="51369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68760" cy="5137023"/>
            </a:xfrm>
            <a:custGeom>
              <a:avLst/>
              <a:gdLst/>
              <a:ahLst/>
              <a:cxnLst/>
              <a:rect r="r" b="b" t="t" l="l"/>
              <a:pathLst>
                <a:path h="5137023" w="11668760">
                  <a:moveTo>
                    <a:pt x="0" y="0"/>
                  </a:moveTo>
                  <a:lnTo>
                    <a:pt x="11668760" y="0"/>
                  </a:lnTo>
                  <a:lnTo>
                    <a:pt x="11668760" y="5137023"/>
                  </a:lnTo>
                  <a:lnTo>
                    <a:pt x="0" y="5137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78529" y="1806007"/>
            <a:ext cx="8437797" cy="3670744"/>
            <a:chOff x="0" y="0"/>
            <a:chExt cx="11250397" cy="48943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50422" cy="4894326"/>
            </a:xfrm>
            <a:custGeom>
              <a:avLst/>
              <a:gdLst/>
              <a:ahLst/>
              <a:cxnLst/>
              <a:rect r="r" b="b" t="t" l="l"/>
              <a:pathLst>
                <a:path h="4894326" w="11250422">
                  <a:moveTo>
                    <a:pt x="0" y="0"/>
                  </a:moveTo>
                  <a:lnTo>
                    <a:pt x="11250422" y="0"/>
                  </a:lnTo>
                  <a:lnTo>
                    <a:pt x="11250422" y="4894326"/>
                  </a:lnTo>
                  <a:lnTo>
                    <a:pt x="0" y="489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519434" y="442274"/>
            <a:ext cx="11419789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SEEDER RESOLVE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6877" y="2476052"/>
            <a:ext cx="9649606" cy="364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AppSeederResolver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Calls SeederProbe::probe():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 connected ports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Verifies file presence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Return reachable seeders</a:t>
            </a:r>
          </a:p>
          <a:p>
            <a:pPr algn="l" marL="777244" indent="-259081" lvl="2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73001" y="601018"/>
            <a:ext cx="3617043" cy="962320"/>
            <a:chOff x="0" y="0"/>
            <a:chExt cx="4822723" cy="1283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22698" cy="1282954"/>
            </a:xfrm>
            <a:custGeom>
              <a:avLst/>
              <a:gdLst/>
              <a:ahLst/>
              <a:cxnLst/>
              <a:rect r="r" b="b" t="t" l="l"/>
              <a:pathLst>
                <a:path h="1282954" w="4822698">
                  <a:moveTo>
                    <a:pt x="552577" y="0"/>
                  </a:moveTo>
                  <a:lnTo>
                    <a:pt x="4270121" y="0"/>
                  </a:lnTo>
                  <a:cubicBezTo>
                    <a:pt x="4416679" y="0"/>
                    <a:pt x="4557268" y="58166"/>
                    <a:pt x="4660900" y="161798"/>
                  </a:cubicBezTo>
                  <a:cubicBezTo>
                    <a:pt x="4764532" y="265430"/>
                    <a:pt x="4822698" y="406019"/>
                    <a:pt x="4822698" y="552577"/>
                  </a:cubicBezTo>
                  <a:lnTo>
                    <a:pt x="4822698" y="730377"/>
                  </a:lnTo>
                  <a:cubicBezTo>
                    <a:pt x="4822698" y="876935"/>
                    <a:pt x="4764532" y="1017524"/>
                    <a:pt x="4660900" y="1121156"/>
                  </a:cubicBezTo>
                  <a:cubicBezTo>
                    <a:pt x="4557268" y="1224788"/>
                    <a:pt x="4416679" y="1282954"/>
                    <a:pt x="4270121" y="1282954"/>
                  </a:cubicBezTo>
                  <a:lnTo>
                    <a:pt x="552577" y="1282954"/>
                  </a:lnTo>
                  <a:cubicBezTo>
                    <a:pt x="406019" y="1282954"/>
                    <a:pt x="265430" y="1224788"/>
                    <a:pt x="161798" y="1121156"/>
                  </a:cubicBezTo>
                  <a:cubicBezTo>
                    <a:pt x="58166" y="1017524"/>
                    <a:pt x="0" y="877062"/>
                    <a:pt x="0" y="730504"/>
                  </a:cubicBezTo>
                  <a:lnTo>
                    <a:pt x="0" y="552704"/>
                  </a:lnTo>
                  <a:cubicBezTo>
                    <a:pt x="0" y="406019"/>
                    <a:pt x="58166" y="265557"/>
                    <a:pt x="161798" y="161798"/>
                  </a:cubicBezTo>
                  <a:cubicBezTo>
                    <a:pt x="265430" y="58039"/>
                    <a:pt x="406019" y="0"/>
                    <a:pt x="552577" y="0"/>
                  </a:cubicBezTo>
                  <a:close/>
                </a:path>
              </a:pathLst>
            </a:custGeom>
            <a:solidFill>
              <a:srgbClr val="AB76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90101" y="478812"/>
            <a:ext cx="3617043" cy="1106986"/>
            <a:chOff x="0" y="0"/>
            <a:chExt cx="4822723" cy="14759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2725" cy="1475977"/>
            </a:xfrm>
            <a:custGeom>
              <a:avLst/>
              <a:gdLst/>
              <a:ahLst/>
              <a:cxnLst/>
              <a:rect r="r" b="b" t="t" l="l"/>
              <a:pathLst>
                <a:path h="1475977" w="4822725">
                  <a:moveTo>
                    <a:pt x="0" y="0"/>
                  </a:moveTo>
                  <a:lnTo>
                    <a:pt x="4822725" y="0"/>
                  </a:lnTo>
                  <a:lnTo>
                    <a:pt x="4822725" y="1475977"/>
                  </a:lnTo>
                  <a:lnTo>
                    <a:pt x="0" y="14759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66" r="0" b="-136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22723" cy="1514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DOWNLOAD MANAGER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39350" y="4057650"/>
            <a:ext cx="38100" cy="703669"/>
            <a:chOff x="0" y="0"/>
            <a:chExt cx="50800" cy="9382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5400"/>
              <a:ext cx="50800" cy="887476"/>
            </a:xfrm>
            <a:custGeom>
              <a:avLst/>
              <a:gdLst/>
              <a:ahLst/>
              <a:cxnLst/>
              <a:rect r="r" b="b" t="t" l="l"/>
              <a:pathLst>
                <a:path h="887476" w="50800">
                  <a:moveTo>
                    <a:pt x="50800" y="0"/>
                  </a:moveTo>
                  <a:lnTo>
                    <a:pt x="50800" y="887476"/>
                  </a:lnTo>
                  <a:lnTo>
                    <a:pt x="0" y="887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776710" y="2967504"/>
            <a:ext cx="43558" cy="1142676"/>
            <a:chOff x="0" y="0"/>
            <a:chExt cx="58077" cy="15235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5273"/>
              <a:ext cx="58039" cy="1473073"/>
            </a:xfrm>
            <a:custGeom>
              <a:avLst/>
              <a:gdLst/>
              <a:ahLst/>
              <a:cxnLst/>
              <a:rect r="r" b="b" t="t" l="l"/>
              <a:pathLst>
                <a:path h="1473073" w="58039">
                  <a:moveTo>
                    <a:pt x="50800" y="0"/>
                  </a:moveTo>
                  <a:lnTo>
                    <a:pt x="58039" y="1472819"/>
                  </a:lnTo>
                  <a:lnTo>
                    <a:pt x="7239" y="1473073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1394774"/>
            <a:ext cx="8460048" cy="1971275"/>
            <a:chOff x="0" y="0"/>
            <a:chExt cx="11280064" cy="26283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80013" cy="2628392"/>
            </a:xfrm>
            <a:custGeom>
              <a:avLst/>
              <a:gdLst/>
              <a:ahLst/>
              <a:cxnLst/>
              <a:rect r="r" b="b" t="t" l="l"/>
              <a:pathLst>
                <a:path h="2628392" w="11280013">
                  <a:moveTo>
                    <a:pt x="0" y="0"/>
                  </a:moveTo>
                  <a:lnTo>
                    <a:pt x="11280013" y="0"/>
                  </a:lnTo>
                  <a:lnTo>
                    <a:pt x="11280013" y="2628392"/>
                  </a:lnTo>
                  <a:lnTo>
                    <a:pt x="0" y="2628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21519" y="3486131"/>
            <a:ext cx="9074410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Manager spawns one worker thread per seeder.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worker independently: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Claims chunks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Fetches them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Writes them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all chunks are done: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Last remaining worker renames .part → final file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 marked Completed</a:t>
            </a:r>
          </a:p>
          <a:p>
            <a:pPr algn="l" marL="1388969" indent="-347242" lvl="3">
              <a:lnSpc>
                <a:spcPts val="47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664023" y="442274"/>
            <a:ext cx="827835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95221" y="6089780"/>
            <a:ext cx="6547161" cy="703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claim_chunk → download → write → mark done</a:t>
            </a:r>
          </a:p>
          <a:p>
            <a:pPr algn="ctr">
              <a:lnSpc>
                <a:spcPts val="2658"/>
              </a:lnSpc>
            </a:pPr>
          </a:p>
        </p:txBody>
      </p:sp>
      <p:sp>
        <p:nvSpPr>
          <p:cNvPr name="AutoShape 16" id="16"/>
          <p:cNvSpPr/>
          <p:nvPr/>
        </p:nvSpPr>
        <p:spPr>
          <a:xfrm>
            <a:off x="10039255" y="4076843"/>
            <a:ext cx="3886800" cy="28575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1811886" y="4072080"/>
            <a:ext cx="38100" cy="703669"/>
            <a:chOff x="0" y="0"/>
            <a:chExt cx="50800" cy="9382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25400"/>
              <a:ext cx="50800" cy="887476"/>
            </a:xfrm>
            <a:custGeom>
              <a:avLst/>
              <a:gdLst/>
              <a:ahLst/>
              <a:cxnLst/>
              <a:rect r="r" b="b" t="t" l="l"/>
              <a:pathLst>
                <a:path h="887476" w="50800">
                  <a:moveTo>
                    <a:pt x="50800" y="0"/>
                  </a:moveTo>
                  <a:lnTo>
                    <a:pt x="50800" y="887476"/>
                  </a:lnTo>
                  <a:lnTo>
                    <a:pt x="0" y="887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887860" y="4072080"/>
            <a:ext cx="38100" cy="703669"/>
            <a:chOff x="0" y="0"/>
            <a:chExt cx="50800" cy="9382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25400"/>
              <a:ext cx="50800" cy="887476"/>
            </a:xfrm>
            <a:custGeom>
              <a:avLst/>
              <a:gdLst/>
              <a:ahLst/>
              <a:cxnLst/>
              <a:rect r="r" b="b" t="t" l="l"/>
              <a:pathLst>
                <a:path h="887476" w="50800">
                  <a:moveTo>
                    <a:pt x="50800" y="0"/>
                  </a:moveTo>
                  <a:lnTo>
                    <a:pt x="50800" y="887476"/>
                  </a:lnTo>
                  <a:lnTo>
                    <a:pt x="0" y="887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971917" y="4580887"/>
            <a:ext cx="1970465" cy="1344284"/>
            <a:chOff x="0" y="0"/>
            <a:chExt cx="2627287" cy="17923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9003)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785707" y="2953074"/>
            <a:ext cx="43558" cy="1142676"/>
            <a:chOff x="0" y="0"/>
            <a:chExt cx="58077" cy="15235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25273"/>
              <a:ext cx="58039" cy="1473073"/>
            </a:xfrm>
            <a:custGeom>
              <a:avLst/>
              <a:gdLst/>
              <a:ahLst/>
              <a:cxnLst/>
              <a:rect r="r" b="b" t="t" l="l"/>
              <a:pathLst>
                <a:path h="1473073" w="58039">
                  <a:moveTo>
                    <a:pt x="50800" y="0"/>
                  </a:moveTo>
                  <a:lnTo>
                    <a:pt x="58039" y="1472819"/>
                  </a:lnTo>
                  <a:lnTo>
                    <a:pt x="7239" y="1473073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830550" y="4057650"/>
            <a:ext cx="38100" cy="703669"/>
            <a:chOff x="0" y="0"/>
            <a:chExt cx="50800" cy="9382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25400"/>
              <a:ext cx="50800" cy="887476"/>
            </a:xfrm>
            <a:custGeom>
              <a:avLst/>
              <a:gdLst/>
              <a:ahLst/>
              <a:cxnLst/>
              <a:rect r="r" b="b" t="t" l="l"/>
              <a:pathLst>
                <a:path h="887476" w="50800">
                  <a:moveTo>
                    <a:pt x="50800" y="0"/>
                  </a:moveTo>
                  <a:lnTo>
                    <a:pt x="50800" y="887476"/>
                  </a:lnTo>
                  <a:lnTo>
                    <a:pt x="0" y="887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098335" y="4568095"/>
            <a:ext cx="1507150" cy="1344282"/>
            <a:chOff x="0" y="0"/>
            <a:chExt cx="2009534" cy="17923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09535" cy="1792379"/>
            </a:xfrm>
            <a:custGeom>
              <a:avLst/>
              <a:gdLst/>
              <a:ahLst/>
              <a:cxnLst/>
              <a:rect r="r" b="b" t="t" l="l"/>
              <a:pathLst>
                <a:path h="1792379" w="2009535">
                  <a:moveTo>
                    <a:pt x="0" y="0"/>
                  </a:moveTo>
                  <a:lnTo>
                    <a:pt x="2009535" y="0"/>
                  </a:lnTo>
                  <a:lnTo>
                    <a:pt x="2009535" y="1792379"/>
                  </a:lnTo>
                  <a:lnTo>
                    <a:pt x="0" y="17923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438" t="0" r="-64438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2009534" cy="17828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A)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5830255" y="4071785"/>
            <a:ext cx="1943700" cy="28575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7735550" y="4061965"/>
            <a:ext cx="38100" cy="703669"/>
            <a:chOff x="0" y="0"/>
            <a:chExt cx="50800" cy="9382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25400"/>
              <a:ext cx="50800" cy="887476"/>
            </a:xfrm>
            <a:custGeom>
              <a:avLst/>
              <a:gdLst/>
              <a:ahLst/>
              <a:cxnLst/>
              <a:rect r="r" b="b" t="t" l="l"/>
              <a:pathLst>
                <a:path h="887476" w="50800">
                  <a:moveTo>
                    <a:pt x="50800" y="0"/>
                  </a:moveTo>
                  <a:lnTo>
                    <a:pt x="50800" y="887476"/>
                  </a:lnTo>
                  <a:lnTo>
                    <a:pt x="0" y="887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0703614" y="2476500"/>
            <a:ext cx="2133038" cy="945518"/>
          </a:xfrm>
          <a:custGeom>
            <a:avLst/>
            <a:gdLst/>
            <a:ahLst/>
            <a:cxnLst/>
            <a:rect r="r" b="b" t="t" l="l"/>
            <a:pathLst>
              <a:path h="945518" w="2133038">
                <a:moveTo>
                  <a:pt x="0" y="0"/>
                </a:moveTo>
                <a:lnTo>
                  <a:pt x="2133038" y="0"/>
                </a:lnTo>
                <a:lnTo>
                  <a:pt x="2133038" y="945518"/>
                </a:lnTo>
                <a:lnTo>
                  <a:pt x="0" y="945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749426" y="2462613"/>
            <a:ext cx="1875320" cy="945518"/>
          </a:xfrm>
          <a:custGeom>
            <a:avLst/>
            <a:gdLst/>
            <a:ahLst/>
            <a:cxnLst/>
            <a:rect r="r" b="b" t="t" l="l"/>
            <a:pathLst>
              <a:path h="945518" w="1875320">
                <a:moveTo>
                  <a:pt x="0" y="0"/>
                </a:moveTo>
                <a:lnTo>
                  <a:pt x="1875320" y="0"/>
                </a:lnTo>
                <a:lnTo>
                  <a:pt x="1875320" y="945518"/>
                </a:lnTo>
                <a:lnTo>
                  <a:pt x="0" y="9455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6687086" y="4544225"/>
            <a:ext cx="1507150" cy="1344282"/>
            <a:chOff x="0" y="0"/>
            <a:chExt cx="2009534" cy="17923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09521" cy="1792351"/>
            </a:xfrm>
            <a:custGeom>
              <a:avLst/>
              <a:gdLst/>
              <a:ahLst/>
              <a:cxnLst/>
              <a:rect r="r" b="b" t="t" l="l"/>
              <a:pathLst>
                <a:path h="1792351" w="2009521">
                  <a:moveTo>
                    <a:pt x="0" y="0"/>
                  </a:moveTo>
                  <a:lnTo>
                    <a:pt x="2009521" y="0"/>
                  </a:lnTo>
                  <a:lnTo>
                    <a:pt x="2009521" y="1792351"/>
                  </a:lnTo>
                  <a:lnTo>
                    <a:pt x="0" y="1792351"/>
                  </a:lnTo>
                  <a:close/>
                </a:path>
              </a:pathLst>
            </a:custGeom>
            <a:solidFill>
              <a:srgbClr val="D99694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2009534" cy="1782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B)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906111" y="6235008"/>
            <a:ext cx="3367145" cy="1049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claim_chunk → download → write → mark done</a:t>
            </a:r>
          </a:p>
          <a:p>
            <a:pPr algn="ctr">
              <a:lnSpc>
                <a:spcPts val="2658"/>
              </a:lnSpc>
            </a:pPr>
          </a:p>
        </p:txBody>
      </p:sp>
      <p:sp>
        <p:nvSpPr>
          <p:cNvPr name="AutoShape 40" id="40"/>
          <p:cNvSpPr/>
          <p:nvPr/>
        </p:nvSpPr>
        <p:spPr>
          <a:xfrm rot="5228880">
            <a:off x="11448069" y="6907282"/>
            <a:ext cx="76573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 rot="5228880">
            <a:off x="16140713" y="7473753"/>
            <a:ext cx="76573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2" id="42"/>
          <p:cNvGrpSpPr/>
          <p:nvPr/>
        </p:nvGrpSpPr>
        <p:grpSpPr>
          <a:xfrm rot="0">
            <a:off x="11201848" y="1401937"/>
            <a:ext cx="1014974" cy="1014974"/>
            <a:chOff x="0" y="0"/>
            <a:chExt cx="1353299" cy="135329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989941" y="1424626"/>
            <a:ext cx="1014974" cy="1014974"/>
            <a:chOff x="0" y="0"/>
            <a:chExt cx="1353299" cy="135329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323444" y="7509681"/>
            <a:ext cx="1014974" cy="1014974"/>
            <a:chOff x="0" y="0"/>
            <a:chExt cx="1353299" cy="13532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0927939" y="13155787"/>
            <a:ext cx="168583" cy="168583"/>
            <a:chOff x="0" y="0"/>
            <a:chExt cx="224777" cy="22477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4790" cy="224790"/>
            </a:xfrm>
            <a:custGeom>
              <a:avLst/>
              <a:gdLst/>
              <a:ahLst/>
              <a:cxnLst/>
              <a:rect r="r" b="b" t="t" l="l"/>
              <a:pathLst>
                <a:path h="224790" w="224790">
                  <a:moveTo>
                    <a:pt x="0" y="0"/>
                  </a:moveTo>
                  <a:lnTo>
                    <a:pt x="224790" y="0"/>
                  </a:lnTo>
                  <a:lnTo>
                    <a:pt x="224790" y="224790"/>
                  </a:lnTo>
                  <a:lnTo>
                    <a:pt x="0" y="224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5" b="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484092" y="8567623"/>
            <a:ext cx="854326" cy="569547"/>
            <a:chOff x="0" y="0"/>
            <a:chExt cx="1139101" cy="759396"/>
          </a:xfrm>
        </p:grpSpPr>
        <p:sp>
          <p:nvSpPr>
            <p:cNvPr name="Freeform 51" id="51" descr="Check Circle Images – Browse 244,243 Stock Photos, Vectors ..."/>
            <p:cNvSpPr/>
            <p:nvPr/>
          </p:nvSpPr>
          <p:spPr>
            <a:xfrm flipH="false" flipV="false" rot="0">
              <a:off x="0" y="0"/>
              <a:ext cx="1139063" cy="759460"/>
            </a:xfrm>
            <a:custGeom>
              <a:avLst/>
              <a:gdLst/>
              <a:ahLst/>
              <a:cxnLst/>
              <a:rect r="r" b="b" t="t" l="l"/>
              <a:pathLst>
                <a:path h="759460" w="1139063">
                  <a:moveTo>
                    <a:pt x="0" y="0"/>
                  </a:moveTo>
                  <a:lnTo>
                    <a:pt x="1139063" y="0"/>
                  </a:lnTo>
                  <a:lnTo>
                    <a:pt x="1139063" y="759460"/>
                  </a:lnTo>
                  <a:lnTo>
                    <a:pt x="0" y="759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246" b="8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5622164" y="13711819"/>
            <a:ext cx="168583" cy="168583"/>
            <a:chOff x="0" y="0"/>
            <a:chExt cx="224777" cy="22477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4790" cy="224790"/>
            </a:xfrm>
            <a:custGeom>
              <a:avLst/>
              <a:gdLst/>
              <a:ahLst/>
              <a:cxnLst/>
              <a:rect r="r" b="b" t="t" l="l"/>
              <a:pathLst>
                <a:path h="224790" w="224790">
                  <a:moveTo>
                    <a:pt x="0" y="0"/>
                  </a:moveTo>
                  <a:lnTo>
                    <a:pt x="224790" y="0"/>
                  </a:lnTo>
                  <a:lnTo>
                    <a:pt x="224790" y="224790"/>
                  </a:lnTo>
                  <a:lnTo>
                    <a:pt x="0" y="224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5" b="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178327" y="9123655"/>
            <a:ext cx="854326" cy="569547"/>
            <a:chOff x="0" y="0"/>
            <a:chExt cx="1139101" cy="759396"/>
          </a:xfrm>
        </p:grpSpPr>
        <p:sp>
          <p:nvSpPr>
            <p:cNvPr name="Freeform 55" id="55" descr="Check Circle Images – Browse 244,243 Stock Photos, Vectors ..."/>
            <p:cNvSpPr/>
            <p:nvPr/>
          </p:nvSpPr>
          <p:spPr>
            <a:xfrm flipH="false" flipV="false" rot="0">
              <a:off x="0" y="0"/>
              <a:ext cx="1139063" cy="759460"/>
            </a:xfrm>
            <a:custGeom>
              <a:avLst/>
              <a:gdLst/>
              <a:ahLst/>
              <a:cxnLst/>
              <a:rect r="r" b="b" t="t" l="l"/>
              <a:pathLst>
                <a:path h="759460" w="1139063">
                  <a:moveTo>
                    <a:pt x="0" y="0"/>
                  </a:moveTo>
                  <a:lnTo>
                    <a:pt x="1139063" y="0"/>
                  </a:lnTo>
                  <a:lnTo>
                    <a:pt x="1139063" y="759460"/>
                  </a:lnTo>
                  <a:lnTo>
                    <a:pt x="0" y="759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246" b="8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989941" y="8017164"/>
            <a:ext cx="1014974" cy="1014974"/>
            <a:chOff x="0" y="0"/>
            <a:chExt cx="1353299" cy="135329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810696" y="4580887"/>
            <a:ext cx="1970465" cy="1344284"/>
            <a:chOff x="0" y="0"/>
            <a:chExt cx="2627287" cy="179237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8EB4E3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864753" y="4580887"/>
            <a:ext cx="1970465" cy="1344284"/>
            <a:chOff x="0" y="0"/>
            <a:chExt cx="2627287" cy="179237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558ED5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096025" y="4568095"/>
            <a:ext cx="1507150" cy="1344284"/>
            <a:chOff x="0" y="0"/>
            <a:chExt cx="2009534" cy="179237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09521" cy="1792353"/>
            </a:xfrm>
            <a:custGeom>
              <a:avLst/>
              <a:gdLst/>
              <a:ahLst/>
              <a:cxnLst/>
              <a:rect r="r" b="b" t="t" l="l"/>
              <a:pathLst>
                <a:path h="1792353" w="2009521">
                  <a:moveTo>
                    <a:pt x="0" y="0"/>
                  </a:moveTo>
                  <a:lnTo>
                    <a:pt x="2009521" y="0"/>
                  </a:lnTo>
                  <a:lnTo>
                    <a:pt x="2009521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C0504D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9525"/>
              <a:ext cx="2009534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A)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04816" y="243154"/>
            <a:ext cx="827835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DOWNLOADING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7474" y="1713654"/>
            <a:ext cx="10612619" cy="83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split into chunks (default 32 bytes).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worker thread: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Connects to a seeder via client socket  repeatedly.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Calls claim_chunk_static(job):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Iterates over all chunks.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Atomically marks the first available chunk (state = 0 → 1).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Returns that chunk index.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Requests chunks (Downloader::fetch_chunk_on_connection).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Downloads the chunk from its seeder.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Writes them into .part file.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Marks chunk as completed (state = 2).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674783" y="3280045"/>
            <a:ext cx="43558" cy="1142676"/>
            <a:chOff x="0" y="0"/>
            <a:chExt cx="58077" cy="15235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25273"/>
              <a:ext cx="58039" cy="1473073"/>
            </a:xfrm>
            <a:custGeom>
              <a:avLst/>
              <a:gdLst/>
              <a:ahLst/>
              <a:cxnLst/>
              <a:rect r="r" b="b" t="t" l="l"/>
              <a:pathLst>
                <a:path h="1473073" w="58039">
                  <a:moveTo>
                    <a:pt x="50800" y="0"/>
                  </a:moveTo>
                  <a:lnTo>
                    <a:pt x="58039" y="1472819"/>
                  </a:lnTo>
                  <a:lnTo>
                    <a:pt x="7239" y="1473073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AutoShape 6" id="6"/>
          <p:cNvSpPr/>
          <p:nvPr/>
        </p:nvSpPr>
        <p:spPr>
          <a:xfrm>
            <a:off x="12937421" y="4384609"/>
            <a:ext cx="3849543" cy="19062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4813941" y="5565570"/>
            <a:ext cx="38100" cy="703669"/>
            <a:chOff x="0" y="0"/>
            <a:chExt cx="50800" cy="9382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5400"/>
              <a:ext cx="50800" cy="887476"/>
            </a:xfrm>
            <a:custGeom>
              <a:avLst/>
              <a:gdLst/>
              <a:ahLst/>
              <a:cxnLst/>
              <a:rect r="r" b="b" t="t" l="l"/>
              <a:pathLst>
                <a:path h="887476" w="50800">
                  <a:moveTo>
                    <a:pt x="50800" y="0"/>
                  </a:moveTo>
                  <a:lnTo>
                    <a:pt x="50800" y="887476"/>
                  </a:lnTo>
                  <a:lnTo>
                    <a:pt x="0" y="887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024848" y="5565570"/>
            <a:ext cx="1970465" cy="1853090"/>
            <a:chOff x="0" y="0"/>
            <a:chExt cx="2627287" cy="247078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1221257" y="0"/>
              <a:ext cx="50800" cy="938225"/>
              <a:chOff x="0" y="0"/>
              <a:chExt cx="50800" cy="93822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25400"/>
                <a:ext cx="50800" cy="887476"/>
              </a:xfrm>
              <a:custGeom>
                <a:avLst/>
                <a:gdLst/>
                <a:ahLst/>
                <a:cxnLst/>
                <a:rect r="r" b="b" t="t" l="l"/>
                <a:pathLst>
                  <a:path h="887476" w="50800">
                    <a:moveTo>
                      <a:pt x="50800" y="0"/>
                    </a:moveTo>
                    <a:lnTo>
                      <a:pt x="50800" y="887476"/>
                    </a:lnTo>
                    <a:lnTo>
                      <a:pt x="0" y="8874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678409"/>
              <a:ext cx="2627287" cy="1792379"/>
              <a:chOff x="0" y="0"/>
              <a:chExt cx="2627287" cy="179237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627249" cy="1792353"/>
              </a:xfrm>
              <a:custGeom>
                <a:avLst/>
                <a:gdLst/>
                <a:ahLst/>
                <a:cxnLst/>
                <a:rect r="r" b="b" t="t" l="l"/>
                <a:pathLst>
                  <a:path h="1792353" w="2627249">
                    <a:moveTo>
                      <a:pt x="0" y="0"/>
                    </a:moveTo>
                    <a:lnTo>
                      <a:pt x="2627249" y="0"/>
                    </a:lnTo>
                    <a:lnTo>
                      <a:pt x="2627249" y="1792353"/>
                    </a:lnTo>
                    <a:lnTo>
                      <a:pt x="0" y="1792353"/>
                    </a:lnTo>
                    <a:close/>
                  </a:path>
                </a:pathLst>
              </a:custGeom>
              <a:solidFill>
                <a:srgbClr val="17375E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9525"/>
                <a:ext cx="2627287" cy="1782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WORKER THREAD (SEEDER</a:t>
                </a:r>
              </a:p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9003)</a:t>
                </a: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13601687" y="2789041"/>
            <a:ext cx="2133038" cy="945518"/>
          </a:xfrm>
          <a:custGeom>
            <a:avLst/>
            <a:gdLst/>
            <a:ahLst/>
            <a:cxnLst/>
            <a:rect r="r" b="b" t="t" l="l"/>
            <a:pathLst>
              <a:path h="945518" w="2133038">
                <a:moveTo>
                  <a:pt x="0" y="0"/>
                </a:moveTo>
                <a:lnTo>
                  <a:pt x="2133038" y="0"/>
                </a:lnTo>
                <a:lnTo>
                  <a:pt x="2133038" y="945518"/>
                </a:lnTo>
                <a:lnTo>
                  <a:pt x="0" y="94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099920" y="1714478"/>
            <a:ext cx="1014974" cy="1014974"/>
            <a:chOff x="0" y="0"/>
            <a:chExt cx="1353299" cy="13532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866808" y="6074376"/>
            <a:ext cx="1970465" cy="1344284"/>
            <a:chOff x="0" y="0"/>
            <a:chExt cx="2627287" cy="17923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558ED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86857" y="5556039"/>
            <a:ext cx="38100" cy="703669"/>
            <a:chOff x="0" y="0"/>
            <a:chExt cx="50800" cy="9382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25400"/>
              <a:ext cx="50800" cy="887476"/>
            </a:xfrm>
            <a:custGeom>
              <a:avLst/>
              <a:gdLst/>
              <a:ahLst/>
              <a:cxnLst/>
              <a:rect r="r" b="b" t="t" l="l"/>
              <a:pathLst>
                <a:path h="887476" w="50800">
                  <a:moveTo>
                    <a:pt x="50800" y="0"/>
                  </a:moveTo>
                  <a:lnTo>
                    <a:pt x="50800" y="887476"/>
                  </a:lnTo>
                  <a:lnTo>
                    <a:pt x="0" y="887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705843" y="6083907"/>
            <a:ext cx="1970465" cy="1344284"/>
            <a:chOff x="0" y="0"/>
            <a:chExt cx="2627287" cy="17923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8EB4E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25720" y="4503343"/>
            <a:ext cx="1222985" cy="1280313"/>
            <a:chOff x="0" y="0"/>
            <a:chExt cx="1630647" cy="17070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30647" cy="1707084"/>
            </a:xfrm>
            <a:custGeom>
              <a:avLst/>
              <a:gdLst/>
              <a:ahLst/>
              <a:cxnLst/>
              <a:rect r="r" b="b" t="t" l="l"/>
              <a:pathLst>
                <a:path h="1707084" w="1630647">
                  <a:moveTo>
                    <a:pt x="0" y="0"/>
                  </a:moveTo>
                  <a:lnTo>
                    <a:pt x="1630647" y="0"/>
                  </a:lnTo>
                  <a:lnTo>
                    <a:pt x="1630647" y="1707084"/>
                  </a:lnTo>
                  <a:lnTo>
                    <a:pt x="0" y="1707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897145" y="207948"/>
              <a:ext cx="601991" cy="601991"/>
            </a:xfrm>
            <a:custGeom>
              <a:avLst/>
              <a:gdLst/>
              <a:ahLst/>
              <a:cxnLst/>
              <a:rect r="r" b="b" t="t" l="l"/>
              <a:pathLst>
                <a:path h="601991" w="601991">
                  <a:moveTo>
                    <a:pt x="0" y="0"/>
                  </a:moveTo>
                  <a:lnTo>
                    <a:pt x="601991" y="0"/>
                  </a:lnTo>
                  <a:lnTo>
                    <a:pt x="601991" y="601991"/>
                  </a:lnTo>
                  <a:lnTo>
                    <a:pt x="0" y="601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514328" y="979444"/>
              <a:ext cx="601991" cy="601991"/>
            </a:xfrm>
            <a:custGeom>
              <a:avLst/>
              <a:gdLst/>
              <a:ahLst/>
              <a:cxnLst/>
              <a:rect r="r" b="b" t="t" l="l"/>
              <a:pathLst>
                <a:path h="601991" w="601991">
                  <a:moveTo>
                    <a:pt x="0" y="0"/>
                  </a:moveTo>
                  <a:lnTo>
                    <a:pt x="601991" y="0"/>
                  </a:lnTo>
                  <a:lnTo>
                    <a:pt x="601991" y="601991"/>
                  </a:lnTo>
                  <a:lnTo>
                    <a:pt x="0" y="601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104309" y="184435"/>
              <a:ext cx="627160" cy="324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6"/>
                </a:lnSpc>
              </a:pPr>
              <a:r>
                <a:rPr lang="en-US" sz="1347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187976" y="4503343"/>
            <a:ext cx="1222985" cy="1280313"/>
            <a:chOff x="0" y="0"/>
            <a:chExt cx="1630647" cy="17070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30647" cy="1707084"/>
            </a:xfrm>
            <a:custGeom>
              <a:avLst/>
              <a:gdLst/>
              <a:ahLst/>
              <a:cxnLst/>
              <a:rect r="r" b="b" t="t" l="l"/>
              <a:pathLst>
                <a:path h="1707084" w="1630647">
                  <a:moveTo>
                    <a:pt x="0" y="0"/>
                  </a:moveTo>
                  <a:lnTo>
                    <a:pt x="1630647" y="0"/>
                  </a:lnTo>
                  <a:lnTo>
                    <a:pt x="1630647" y="1707084"/>
                  </a:lnTo>
                  <a:lnTo>
                    <a:pt x="0" y="1707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897145" y="207948"/>
              <a:ext cx="601991" cy="601991"/>
            </a:xfrm>
            <a:custGeom>
              <a:avLst/>
              <a:gdLst/>
              <a:ahLst/>
              <a:cxnLst/>
              <a:rect r="r" b="b" t="t" l="l"/>
              <a:pathLst>
                <a:path h="601991" w="601991">
                  <a:moveTo>
                    <a:pt x="0" y="0"/>
                  </a:moveTo>
                  <a:lnTo>
                    <a:pt x="601991" y="0"/>
                  </a:lnTo>
                  <a:lnTo>
                    <a:pt x="601991" y="601991"/>
                  </a:lnTo>
                  <a:lnTo>
                    <a:pt x="0" y="601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514328" y="979444"/>
              <a:ext cx="601991" cy="601991"/>
            </a:xfrm>
            <a:custGeom>
              <a:avLst/>
              <a:gdLst/>
              <a:ahLst/>
              <a:cxnLst/>
              <a:rect r="r" b="b" t="t" l="l"/>
              <a:pathLst>
                <a:path h="601991" w="601991">
                  <a:moveTo>
                    <a:pt x="0" y="0"/>
                  </a:moveTo>
                  <a:lnTo>
                    <a:pt x="601991" y="0"/>
                  </a:lnTo>
                  <a:lnTo>
                    <a:pt x="601991" y="601991"/>
                  </a:lnTo>
                  <a:lnTo>
                    <a:pt x="0" y="601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104309" y="176271"/>
              <a:ext cx="627160" cy="332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6"/>
                </a:lnSpc>
              </a:pPr>
              <a:r>
                <a:rPr lang="en-US" sz="1347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499" y="2355211"/>
            <a:ext cx="11109704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Workers race to claim the next available chunk.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first thread that successfully flips a chunk’s state gets it.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 workers can download different chunks simultaneously.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worker can claim any free chunk, no strict ordering.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a worker fails, its chunk is reset to 0 (unclaimed) so another worker can retry.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load balancing: Faster seeders naturally complete more chunks because they claim more often.</a:t>
            </a:r>
          </a:p>
          <a:p>
            <a:pPr algn="l" marL="777244" indent="-259081" lvl="2">
              <a:lnSpc>
                <a:spcPts val="47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949798" y="2508404"/>
            <a:ext cx="2133038" cy="945518"/>
          </a:xfrm>
          <a:custGeom>
            <a:avLst/>
            <a:gdLst/>
            <a:ahLst/>
            <a:cxnLst/>
            <a:rect r="r" b="b" t="t" l="l"/>
            <a:pathLst>
              <a:path h="945518" w="2133038">
                <a:moveTo>
                  <a:pt x="0" y="0"/>
                </a:moveTo>
                <a:lnTo>
                  <a:pt x="2133038" y="0"/>
                </a:lnTo>
                <a:lnTo>
                  <a:pt x="2133038" y="945518"/>
                </a:lnTo>
                <a:lnTo>
                  <a:pt x="0" y="94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500"/>
            </a:solidFill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5904741" y="6129967"/>
            <a:ext cx="1970465" cy="1344284"/>
            <a:chOff x="0" y="0"/>
            <a:chExt cx="2627287" cy="17923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9003)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545232" y="6129967"/>
            <a:ext cx="1970465" cy="1344284"/>
            <a:chOff x="0" y="0"/>
            <a:chExt cx="2627287" cy="17923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8EB4E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24726" y="6129967"/>
            <a:ext cx="1970465" cy="1344284"/>
            <a:chOff x="0" y="0"/>
            <a:chExt cx="2627287" cy="17923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558E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9002)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5049655" y="2508404"/>
            <a:ext cx="0" cy="945518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4676621" y="2508404"/>
            <a:ext cx="0" cy="945518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5951887" y="243154"/>
            <a:ext cx="827835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WORKERS MODEL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22822" y="1214095"/>
            <a:ext cx="1433647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(Work‑stealing / atomic claim scheduler)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30245" y="2617626"/>
            <a:ext cx="24812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39075" y="2617626"/>
            <a:ext cx="24812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447065" y="2617626"/>
            <a:ext cx="24812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499" y="2355211"/>
            <a:ext cx="11109704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Workers race to claim the next available chunk.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first thread that successfully flips a chunk’s state gets it.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 workers can download different chunks simultaneously.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worker can claim any free chunk, no strict ordering.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a worker fails, its chunk is reset to 0 (unclaimed) so another worker can retry.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load balancing: Faster seeders naturally complete more chunks because they claim more often.</a:t>
            </a:r>
          </a:p>
          <a:p>
            <a:pPr algn="l" marL="777244" indent="-259081" lvl="2">
              <a:lnSpc>
                <a:spcPts val="47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949798" y="2508404"/>
            <a:ext cx="2133038" cy="945518"/>
          </a:xfrm>
          <a:custGeom>
            <a:avLst/>
            <a:gdLst/>
            <a:ahLst/>
            <a:cxnLst/>
            <a:rect r="r" b="b" t="t" l="l"/>
            <a:pathLst>
              <a:path h="945518" w="2133038">
                <a:moveTo>
                  <a:pt x="0" y="0"/>
                </a:moveTo>
                <a:lnTo>
                  <a:pt x="2133038" y="0"/>
                </a:lnTo>
                <a:lnTo>
                  <a:pt x="2133038" y="945518"/>
                </a:lnTo>
                <a:lnTo>
                  <a:pt x="0" y="94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500"/>
            </a:solidFill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6031395" y="3223059"/>
            <a:ext cx="1970465" cy="1344284"/>
            <a:chOff x="0" y="0"/>
            <a:chExt cx="2627287" cy="17923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9003)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754260" y="4471358"/>
            <a:ext cx="1970465" cy="1344284"/>
            <a:chOff x="0" y="0"/>
            <a:chExt cx="2627287" cy="17923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8EB4E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24726" y="6129967"/>
            <a:ext cx="1970465" cy="1344284"/>
            <a:chOff x="0" y="0"/>
            <a:chExt cx="2627287" cy="17923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558E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9002)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2700000">
            <a:off x="15639864" y="3088436"/>
            <a:ext cx="1163358" cy="532236"/>
          </a:xfrm>
          <a:custGeom>
            <a:avLst/>
            <a:gdLst/>
            <a:ahLst/>
            <a:cxnLst/>
            <a:rect r="r" b="b" t="t" l="l"/>
            <a:pathLst>
              <a:path h="532236" w="1163358">
                <a:moveTo>
                  <a:pt x="0" y="0"/>
                </a:moveTo>
                <a:lnTo>
                  <a:pt x="1163358" y="0"/>
                </a:lnTo>
                <a:lnTo>
                  <a:pt x="1163358" y="532236"/>
                </a:lnTo>
                <a:lnTo>
                  <a:pt x="0" y="532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15049655" y="2508404"/>
            <a:ext cx="0" cy="945518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4676621" y="2508404"/>
            <a:ext cx="0" cy="945518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8100000">
            <a:off x="12452348" y="3367029"/>
            <a:ext cx="1951513" cy="892817"/>
          </a:xfrm>
          <a:custGeom>
            <a:avLst/>
            <a:gdLst/>
            <a:ahLst/>
            <a:cxnLst/>
            <a:rect r="r" b="b" t="t" l="l"/>
            <a:pathLst>
              <a:path h="892817" w="1951513">
                <a:moveTo>
                  <a:pt x="0" y="0"/>
                </a:moveTo>
                <a:lnTo>
                  <a:pt x="1951513" y="0"/>
                </a:lnTo>
                <a:lnTo>
                  <a:pt x="1951513" y="892817"/>
                </a:lnTo>
                <a:lnTo>
                  <a:pt x="0" y="892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13904380" y="3928900"/>
            <a:ext cx="1951513" cy="892817"/>
          </a:xfrm>
          <a:custGeom>
            <a:avLst/>
            <a:gdLst/>
            <a:ahLst/>
            <a:cxnLst/>
            <a:rect r="r" b="b" t="t" l="l"/>
            <a:pathLst>
              <a:path h="892817" w="1951513">
                <a:moveTo>
                  <a:pt x="0" y="0"/>
                </a:moveTo>
                <a:lnTo>
                  <a:pt x="1951513" y="0"/>
                </a:lnTo>
                <a:lnTo>
                  <a:pt x="1951513" y="892818"/>
                </a:lnTo>
                <a:lnTo>
                  <a:pt x="0" y="892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258828">
            <a:off x="16830367" y="4911212"/>
            <a:ext cx="464577" cy="464577"/>
          </a:xfrm>
          <a:custGeom>
            <a:avLst/>
            <a:gdLst/>
            <a:ahLst/>
            <a:cxnLst/>
            <a:rect r="r" b="b" t="t" l="l"/>
            <a:pathLst>
              <a:path h="464577" w="464577">
                <a:moveTo>
                  <a:pt x="0" y="0"/>
                </a:moveTo>
                <a:lnTo>
                  <a:pt x="464576" y="0"/>
                </a:lnTo>
                <a:lnTo>
                  <a:pt x="464576" y="464576"/>
                </a:lnTo>
                <a:lnTo>
                  <a:pt x="0" y="464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951887" y="243154"/>
            <a:ext cx="827835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WORKERS MODEL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22822" y="1214095"/>
            <a:ext cx="1433647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(Work‑stealing / atomic claim scheduler)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5258828">
            <a:off x="14477670" y="7797916"/>
            <a:ext cx="464577" cy="464577"/>
          </a:xfrm>
          <a:custGeom>
            <a:avLst/>
            <a:gdLst/>
            <a:ahLst/>
            <a:cxnLst/>
            <a:rect r="r" b="b" t="t" l="l"/>
            <a:pathLst>
              <a:path h="464577" w="464577">
                <a:moveTo>
                  <a:pt x="0" y="0"/>
                </a:moveTo>
                <a:lnTo>
                  <a:pt x="464577" y="0"/>
                </a:lnTo>
                <a:lnTo>
                  <a:pt x="464577" y="464577"/>
                </a:lnTo>
                <a:lnTo>
                  <a:pt x="0" y="464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258828">
            <a:off x="12507205" y="6086563"/>
            <a:ext cx="464577" cy="464577"/>
          </a:xfrm>
          <a:custGeom>
            <a:avLst/>
            <a:gdLst/>
            <a:ahLst/>
            <a:cxnLst/>
            <a:rect r="r" b="b" t="t" l="l"/>
            <a:pathLst>
              <a:path h="464577" w="464577">
                <a:moveTo>
                  <a:pt x="0" y="0"/>
                </a:moveTo>
                <a:lnTo>
                  <a:pt x="464576" y="0"/>
                </a:lnTo>
                <a:lnTo>
                  <a:pt x="464576" y="464577"/>
                </a:lnTo>
                <a:lnTo>
                  <a:pt x="0" y="464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230245" y="2617626"/>
            <a:ext cx="24812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39075" y="2617626"/>
            <a:ext cx="24812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477426" y="2617626"/>
            <a:ext cx="18740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499" y="2355211"/>
            <a:ext cx="11109704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Workers race to claim the next available chunk.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first thread that successfully flips a chunk’s state gets it.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 workers can download different chunks simultaneously.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worker can claim any free chunk, no strict ordering.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a worker fails, its chunk is reset to 0 (unclaimed) so another worker can retry.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load balancing: Faster seeders naturally complete more chunks because they claim more often.</a:t>
            </a:r>
          </a:p>
          <a:p>
            <a:pPr algn="l" marL="777244" indent="-259081" lvl="2">
              <a:lnSpc>
                <a:spcPts val="47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951887" y="243154"/>
            <a:ext cx="827835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WORKERS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22822" y="1214095"/>
            <a:ext cx="1433647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(Work‑stealing / atomic claim scheduler)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52660" y="3987453"/>
            <a:ext cx="43558" cy="1142676"/>
            <a:chOff x="0" y="0"/>
            <a:chExt cx="58077" cy="15235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273"/>
              <a:ext cx="58039" cy="1473073"/>
            </a:xfrm>
            <a:custGeom>
              <a:avLst/>
              <a:gdLst/>
              <a:ahLst/>
              <a:cxnLst/>
              <a:rect r="r" b="b" t="t" l="l"/>
              <a:pathLst>
                <a:path h="1473073" w="58039">
                  <a:moveTo>
                    <a:pt x="50800" y="0"/>
                  </a:moveTo>
                  <a:lnTo>
                    <a:pt x="58039" y="1472819"/>
                  </a:lnTo>
                  <a:lnTo>
                    <a:pt x="7239" y="1473073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AutoShape 7" id="7"/>
          <p:cNvSpPr/>
          <p:nvPr/>
        </p:nvSpPr>
        <p:spPr>
          <a:xfrm flipV="true">
            <a:off x="12751547" y="5111079"/>
            <a:ext cx="4013294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659581" y="5101548"/>
            <a:ext cx="38100" cy="703669"/>
            <a:chOff x="0" y="0"/>
            <a:chExt cx="50800" cy="9382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25400"/>
              <a:ext cx="50800" cy="887476"/>
            </a:xfrm>
            <a:custGeom>
              <a:avLst/>
              <a:gdLst/>
              <a:ahLst/>
              <a:cxnLst/>
              <a:rect r="r" b="b" t="t" l="l"/>
              <a:pathLst>
                <a:path h="887476" w="50800">
                  <a:moveTo>
                    <a:pt x="50800" y="0"/>
                  </a:moveTo>
                  <a:lnTo>
                    <a:pt x="50800" y="887476"/>
                  </a:lnTo>
                  <a:lnTo>
                    <a:pt x="0" y="887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870487" y="5101548"/>
            <a:ext cx="1970465" cy="1853090"/>
            <a:chOff x="0" y="0"/>
            <a:chExt cx="2627287" cy="247078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1221257" y="0"/>
              <a:ext cx="50800" cy="938225"/>
              <a:chOff x="0" y="0"/>
              <a:chExt cx="50800" cy="93822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25400"/>
                <a:ext cx="50800" cy="887476"/>
              </a:xfrm>
              <a:custGeom>
                <a:avLst/>
                <a:gdLst/>
                <a:ahLst/>
                <a:cxnLst/>
                <a:rect r="r" b="b" t="t" l="l"/>
                <a:pathLst>
                  <a:path h="887476" w="50800">
                    <a:moveTo>
                      <a:pt x="50800" y="0"/>
                    </a:moveTo>
                    <a:lnTo>
                      <a:pt x="50800" y="887476"/>
                    </a:lnTo>
                    <a:lnTo>
                      <a:pt x="0" y="8874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678409"/>
              <a:ext cx="2627287" cy="1792379"/>
              <a:chOff x="0" y="0"/>
              <a:chExt cx="2627287" cy="179237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627249" cy="1792353"/>
              </a:xfrm>
              <a:custGeom>
                <a:avLst/>
                <a:gdLst/>
                <a:ahLst/>
                <a:cxnLst/>
                <a:rect r="r" b="b" t="t" l="l"/>
                <a:pathLst>
                  <a:path h="1792353" w="2627249">
                    <a:moveTo>
                      <a:pt x="0" y="0"/>
                    </a:moveTo>
                    <a:lnTo>
                      <a:pt x="2627249" y="0"/>
                    </a:lnTo>
                    <a:lnTo>
                      <a:pt x="2627249" y="1792353"/>
                    </a:lnTo>
                    <a:lnTo>
                      <a:pt x="0" y="1792353"/>
                    </a:lnTo>
                    <a:close/>
                  </a:path>
                </a:pathLst>
              </a:custGeom>
              <a:solidFill>
                <a:srgbClr val="17375E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9525"/>
                <a:ext cx="2627287" cy="17828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WORKER THREAD (SEEDER</a:t>
                </a:r>
              </a:p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9003)</a:t>
                </a: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0">
            <a:off x="13579564" y="3496449"/>
            <a:ext cx="2133038" cy="945518"/>
          </a:xfrm>
          <a:custGeom>
            <a:avLst/>
            <a:gdLst/>
            <a:ahLst/>
            <a:cxnLst/>
            <a:rect r="r" b="b" t="t" l="l"/>
            <a:pathLst>
              <a:path h="945518" w="2133038">
                <a:moveTo>
                  <a:pt x="0" y="0"/>
                </a:moveTo>
                <a:lnTo>
                  <a:pt x="2133038" y="0"/>
                </a:lnTo>
                <a:lnTo>
                  <a:pt x="2133038" y="945518"/>
                </a:lnTo>
                <a:lnTo>
                  <a:pt x="0" y="94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077798" y="2421886"/>
            <a:ext cx="1014974" cy="1014974"/>
            <a:chOff x="0" y="0"/>
            <a:chExt cx="1353299" cy="13532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2448" y="5610355"/>
            <a:ext cx="1970465" cy="1344284"/>
            <a:chOff x="0" y="0"/>
            <a:chExt cx="2627287" cy="17923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558ED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9002)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732497" y="5092017"/>
            <a:ext cx="38100" cy="703669"/>
            <a:chOff x="0" y="0"/>
            <a:chExt cx="50800" cy="9382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25400"/>
              <a:ext cx="50800" cy="887476"/>
            </a:xfrm>
            <a:custGeom>
              <a:avLst/>
              <a:gdLst/>
              <a:ahLst/>
              <a:cxnLst/>
              <a:rect r="r" b="b" t="t" l="l"/>
              <a:pathLst>
                <a:path h="887476" w="50800">
                  <a:moveTo>
                    <a:pt x="50800" y="0"/>
                  </a:moveTo>
                  <a:lnTo>
                    <a:pt x="50800" y="887476"/>
                  </a:lnTo>
                  <a:lnTo>
                    <a:pt x="0" y="887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551483" y="5619886"/>
            <a:ext cx="1970465" cy="1344284"/>
            <a:chOff x="0" y="0"/>
            <a:chExt cx="2627287" cy="17923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27249" cy="1792353"/>
            </a:xfrm>
            <a:custGeom>
              <a:avLst/>
              <a:gdLst/>
              <a:ahLst/>
              <a:cxnLst/>
              <a:rect r="r" b="b" t="t" l="l"/>
              <a:pathLst>
                <a:path h="1792353" w="2627249">
                  <a:moveTo>
                    <a:pt x="0" y="0"/>
                  </a:moveTo>
                  <a:lnTo>
                    <a:pt x="2627249" y="0"/>
                  </a:lnTo>
                  <a:lnTo>
                    <a:pt x="2627249" y="1792353"/>
                  </a:lnTo>
                  <a:lnTo>
                    <a:pt x="0" y="1792353"/>
                  </a:lnTo>
                  <a:close/>
                </a:path>
              </a:pathLst>
            </a:custGeom>
            <a:solidFill>
              <a:srgbClr val="8EB4E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2627287" cy="178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WORKER THREAD (SEEDER 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9001)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907836" y="3728453"/>
            <a:ext cx="19812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87165" y="3699968"/>
            <a:ext cx="19812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93712" y="3699968"/>
            <a:ext cx="19812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09482" y="1842707"/>
            <a:ext cx="11264560" cy="562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b="true" sz="6398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How to make sure that while downloading we are connected to other seed apps that have just connected recently?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29760" y="442274"/>
            <a:ext cx="827835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TICK THREAD LOGIC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8718" y="2333092"/>
            <a:ext cx="14206880" cy="364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Runs every 2 seconds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Refreshes stalled downloads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resolver (seeder probe) to find new seeders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Spawns new workers if needed especially for cases of those disconnected seeders while downloading</a:t>
            </a:r>
          </a:p>
          <a:p>
            <a:pPr algn="l" marL="777244" indent="-259081" lvl="2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1994" y="5801879"/>
            <a:ext cx="10264013" cy="3682969"/>
          </a:xfrm>
          <a:custGeom>
            <a:avLst/>
            <a:gdLst/>
            <a:ahLst/>
            <a:cxnLst/>
            <a:rect r="r" b="b" t="t" l="l"/>
            <a:pathLst>
              <a:path h="3682969" w="10264013">
                <a:moveTo>
                  <a:pt x="0" y="0"/>
                </a:moveTo>
                <a:lnTo>
                  <a:pt x="10264012" y="0"/>
                </a:lnTo>
                <a:lnTo>
                  <a:pt x="10264012" y="3682970"/>
                </a:lnTo>
                <a:lnTo>
                  <a:pt x="0" y="3682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19434" y="442274"/>
            <a:ext cx="821199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MENU OPTIONS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59411" y="2104488"/>
            <a:ext cx="7769177" cy="294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 2 - Download Status</a:t>
            </a:r>
          </a:p>
          <a:p>
            <a:pPr algn="l" marL="960125" indent="-320042" lvl="2">
              <a:lnSpc>
                <a:spcPts val="5880"/>
              </a:lnSpc>
              <a:buFont typeface="Arial"/>
              <a:buChar char="⚬"/>
            </a:pPr>
            <a:r>
              <a:rPr lang="en-US" b="true" sz="4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Show progress</a:t>
            </a:r>
          </a:p>
          <a:p>
            <a:pPr algn="l" marL="960125" indent="-320042" lvl="2">
              <a:lnSpc>
                <a:spcPts val="5880"/>
              </a:lnSpc>
              <a:buFont typeface="Arial"/>
              <a:buChar char="⚬"/>
            </a:pPr>
            <a:r>
              <a:rPr lang="en-US" b="true" sz="4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Refresh every seconds</a:t>
            </a:r>
          </a:p>
          <a:p>
            <a:pPr algn="l" marL="960125" indent="-320042" lvl="2">
              <a:lnSpc>
                <a:spcPts val="5880"/>
              </a:lnSpc>
              <a:buFont typeface="Arial"/>
              <a:buChar char="⚬"/>
            </a:pPr>
            <a:r>
              <a:rPr lang="en-US" b="true" sz="4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Exit on key press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89992" y="272577"/>
            <a:ext cx="11773748" cy="190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COMPLETION </a:t>
            </a:r>
          </a:p>
          <a:p>
            <a:pPr algn="l">
              <a:lnSpc>
                <a:spcPts val="7278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040560" y="2045494"/>
            <a:ext cx="14206880" cy="54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Workers exit when done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worker renames .part → final file</a:t>
            </a:r>
          </a:p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Updates status: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Idle 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Downloading 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Completed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Failed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Stalled</a:t>
            </a:r>
          </a:p>
          <a:p>
            <a:pPr algn="l" marL="1388969" indent="-347242" lvl="3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9992" y="5948277"/>
            <a:ext cx="7904178" cy="3537537"/>
            <a:chOff x="0" y="0"/>
            <a:chExt cx="10538904" cy="471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38968" cy="4716653"/>
            </a:xfrm>
            <a:custGeom>
              <a:avLst/>
              <a:gdLst/>
              <a:ahLst/>
              <a:cxnLst/>
              <a:rect r="r" b="b" t="t" l="l"/>
              <a:pathLst>
                <a:path h="4716653" w="10538968">
                  <a:moveTo>
                    <a:pt x="0" y="0"/>
                  </a:moveTo>
                  <a:lnTo>
                    <a:pt x="10538968" y="0"/>
                  </a:lnTo>
                  <a:lnTo>
                    <a:pt x="10538968" y="4716653"/>
                  </a:lnTo>
                  <a:lnTo>
                    <a:pt x="0" y="4716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89992" y="272577"/>
            <a:ext cx="11773748" cy="190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43247" y="2045494"/>
            <a:ext cx="14206880" cy="364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IDLE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active download is happening.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Either waiting for a job to start or no jobs exist.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Rarely used in your flow since jobs usually start directly as Downloading.</a:t>
            </a:r>
          </a:p>
          <a:p>
            <a:pPr algn="l" marL="1388969" indent="-347242" lvl="3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3247" y="2045494"/>
            <a:ext cx="16308534" cy="304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Downloading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Active worker threads are fetching chunks from seeders.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Chunks are being claimed, downloaded, and written into the .part file.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is the “normal running” state.</a:t>
            </a:r>
          </a:p>
          <a:p>
            <a:pPr algn="l" marL="1388969" indent="-347242" lvl="3">
              <a:lnSpc>
                <a:spcPts val="475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2409006" y="5600843"/>
            <a:ext cx="13103743" cy="1166012"/>
            <a:chOff x="0" y="0"/>
            <a:chExt cx="17471657" cy="15546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71644" cy="1554734"/>
            </a:xfrm>
            <a:custGeom>
              <a:avLst/>
              <a:gdLst/>
              <a:ahLst/>
              <a:cxnLst/>
              <a:rect r="r" b="b" t="t" l="l"/>
              <a:pathLst>
                <a:path h="1554734" w="17471644">
                  <a:moveTo>
                    <a:pt x="0" y="0"/>
                  </a:moveTo>
                  <a:lnTo>
                    <a:pt x="17471644" y="0"/>
                  </a:lnTo>
                  <a:lnTo>
                    <a:pt x="17471644" y="1554734"/>
                  </a:lnTo>
                  <a:lnTo>
                    <a:pt x="0" y="1554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3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889992" y="272577"/>
            <a:ext cx="11773748" cy="190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8"/>
              </a:lnSpc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3247" y="2045494"/>
            <a:ext cx="16308534" cy="364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Completed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All chunks have been successfully downloaded.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.part file is renamed to the final file.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 marked as finished, no more worker threads running.</a:t>
            </a:r>
          </a:p>
          <a:p>
            <a:pPr algn="l" marL="1388969" indent="-347242" lvl="3">
              <a:lnSpc>
                <a:spcPts val="4759"/>
              </a:lnSpc>
            </a:pPr>
          </a:p>
          <a:p>
            <a:pPr algn="l" marL="1388969" indent="-347242" lvl="3">
              <a:lnSpc>
                <a:spcPts val="475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443247" y="5456663"/>
            <a:ext cx="14167399" cy="655634"/>
            <a:chOff x="0" y="0"/>
            <a:chExt cx="18889866" cy="8741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889853" cy="874141"/>
            </a:xfrm>
            <a:custGeom>
              <a:avLst/>
              <a:gdLst/>
              <a:ahLst/>
              <a:cxnLst/>
              <a:rect r="r" b="b" t="t" l="l"/>
              <a:pathLst>
                <a:path h="874141" w="18889853">
                  <a:moveTo>
                    <a:pt x="0" y="0"/>
                  </a:moveTo>
                  <a:lnTo>
                    <a:pt x="18889853" y="0"/>
                  </a:lnTo>
                  <a:lnTo>
                    <a:pt x="18889853" y="874141"/>
                  </a:lnTo>
                  <a:lnTo>
                    <a:pt x="0" y="87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889992" y="272577"/>
            <a:ext cx="11773748" cy="190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8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3247" y="2045494"/>
            <a:ext cx="14936924" cy="54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Stalled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progress has stopped (no seeders available, workers exited without completing).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failed yet — system will try to recover by refreshing seeders in the tick thread.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Acts as a “pause” state until new seeders are found.</a:t>
            </a:r>
          </a:p>
          <a:p>
            <a:pPr algn="l" marL="1388969" indent="-347242" lvl="3">
              <a:lnSpc>
                <a:spcPts val="4759"/>
              </a:lnSpc>
            </a:pPr>
          </a:p>
          <a:p>
            <a:pPr algn="l" marL="1388969" indent="-347242" lvl="3">
              <a:lnSpc>
                <a:spcPts val="4759"/>
              </a:lnSpc>
            </a:pPr>
          </a:p>
          <a:p>
            <a:pPr algn="l" marL="1388969" indent="-347242" lvl="3">
              <a:lnSpc>
                <a:spcPts val="475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783956" y="6417726"/>
            <a:ext cx="15262584" cy="849973"/>
            <a:chOff x="0" y="0"/>
            <a:chExt cx="20350112" cy="11332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50099" cy="1133348"/>
            </a:xfrm>
            <a:custGeom>
              <a:avLst/>
              <a:gdLst/>
              <a:ahLst/>
              <a:cxnLst/>
              <a:rect r="r" b="b" t="t" l="l"/>
              <a:pathLst>
                <a:path h="1133348" w="20350099">
                  <a:moveTo>
                    <a:pt x="0" y="0"/>
                  </a:moveTo>
                  <a:lnTo>
                    <a:pt x="20350099" y="0"/>
                  </a:lnTo>
                  <a:lnTo>
                    <a:pt x="20350099" y="1133348"/>
                  </a:lnTo>
                  <a:lnTo>
                    <a:pt x="0" y="1133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4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889992" y="272577"/>
            <a:ext cx="11773748" cy="190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8"/>
              </a:lnSpc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3247" y="2045494"/>
            <a:ext cx="14936924" cy="54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Stalled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progress has stopped (no seeders available, workers exited without completing).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failed yet — system will try to recover by refreshing seeders in the tick thread.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Acts as a “pause” state until new seeders are found.</a:t>
            </a:r>
          </a:p>
          <a:p>
            <a:pPr algn="l" marL="1388969" indent="-347242" lvl="3">
              <a:lnSpc>
                <a:spcPts val="4759"/>
              </a:lnSpc>
            </a:pPr>
          </a:p>
          <a:p>
            <a:pPr algn="l" marL="1388969" indent="-347242" lvl="3">
              <a:lnSpc>
                <a:spcPts val="4759"/>
              </a:lnSpc>
            </a:pPr>
          </a:p>
          <a:p>
            <a:pPr algn="l" marL="1388969" indent="-347242" lvl="3">
              <a:lnSpc>
                <a:spcPts val="475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783956" y="6417726"/>
            <a:ext cx="15262584" cy="849973"/>
            <a:chOff x="0" y="0"/>
            <a:chExt cx="20350112" cy="11332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50099" cy="1133348"/>
            </a:xfrm>
            <a:custGeom>
              <a:avLst/>
              <a:gdLst/>
              <a:ahLst/>
              <a:cxnLst/>
              <a:rect r="r" b="b" t="t" l="l"/>
              <a:pathLst>
                <a:path h="1133348" w="20350099">
                  <a:moveTo>
                    <a:pt x="0" y="0"/>
                  </a:moveTo>
                  <a:lnTo>
                    <a:pt x="20350099" y="0"/>
                  </a:lnTo>
                  <a:lnTo>
                    <a:pt x="20350099" y="1133348"/>
                  </a:lnTo>
                  <a:lnTo>
                    <a:pt x="0" y="1133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4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889992" y="272577"/>
            <a:ext cx="11773748" cy="190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8"/>
              </a:lnSpc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3247" y="2045494"/>
            <a:ext cx="14936924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4" indent="-259081" lvl="2">
              <a:lnSpc>
                <a:spcPts val="4759"/>
              </a:lnSpc>
              <a:buFont typeface="Arial"/>
              <a:buChar char="⚬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Failed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source file on the seeder was deleted or moved.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output file cannot be created or written to (disk full, permission denied).</a:t>
            </a:r>
          </a:p>
          <a:p>
            <a:pPr algn="l" marL="1388969" indent="-347242" lvl="3">
              <a:lnSpc>
                <a:spcPts val="4759"/>
              </a:lnSpc>
              <a:buFont typeface="Arial"/>
              <a:buChar char="￭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Protocol violation (wrong chunk size, invalid offset).</a:t>
            </a:r>
          </a:p>
          <a:p>
            <a:pPr algn="l" marL="1388969" indent="-347242" lvl="3">
              <a:lnSpc>
                <a:spcPts val="4759"/>
              </a:lnSpc>
            </a:pPr>
          </a:p>
          <a:p>
            <a:pPr algn="l" marL="1388969" indent="-347242" lvl="3">
              <a:lnSpc>
                <a:spcPts val="4759"/>
              </a:lnSpc>
            </a:pPr>
          </a:p>
          <a:p>
            <a:pPr algn="l" marL="1388969" indent="-347242" lvl="3">
              <a:lnSpc>
                <a:spcPts val="47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889992" y="272577"/>
            <a:ext cx="11773748" cy="190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DOWNLOAD STATUS</a:t>
            </a:r>
          </a:p>
          <a:p>
            <a:pPr algn="l">
              <a:lnSpc>
                <a:spcPts val="7278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92206" y="2418723"/>
            <a:ext cx="9067094" cy="4879481"/>
          </a:xfrm>
          <a:custGeom>
            <a:avLst/>
            <a:gdLst/>
            <a:ahLst/>
            <a:cxnLst/>
            <a:rect r="r" b="b" t="t" l="l"/>
            <a:pathLst>
              <a:path h="4879481" w="9067094">
                <a:moveTo>
                  <a:pt x="0" y="0"/>
                </a:moveTo>
                <a:lnTo>
                  <a:pt x="9067094" y="0"/>
                </a:lnTo>
                <a:lnTo>
                  <a:pt x="9067094" y="4879480"/>
                </a:lnTo>
                <a:lnTo>
                  <a:pt x="0" y="4879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19434" y="442274"/>
            <a:ext cx="821199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MENU OPTIONS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9723" y="2332998"/>
            <a:ext cx="13376134" cy="338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8"/>
              </a:lnSpc>
            </a:pPr>
            <a:r>
              <a:rPr lang="en-US" sz="471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 3 - Exit</a:t>
            </a:r>
          </a:p>
          <a:p>
            <a:pPr algn="l" marL="1077404" indent="-359135" lvl="2">
              <a:lnSpc>
                <a:spcPts val="6598"/>
              </a:lnSpc>
              <a:buFont typeface="Arial"/>
              <a:buChar char="⚬"/>
            </a:pPr>
            <a:r>
              <a:rPr lang="en-US" b="true" sz="471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Stop server</a:t>
            </a:r>
          </a:p>
          <a:p>
            <a:pPr algn="l" marL="1077404" indent="-359135" lvl="2">
              <a:lnSpc>
                <a:spcPts val="6598"/>
              </a:lnSpc>
              <a:buFont typeface="Arial"/>
              <a:buChar char="⚬"/>
            </a:pPr>
            <a:r>
              <a:rPr lang="en-US" b="true" sz="471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Join threads</a:t>
            </a:r>
          </a:p>
          <a:p>
            <a:pPr algn="l" marL="1077404" indent="-359135" lvl="2">
              <a:lnSpc>
                <a:spcPts val="6598"/>
              </a:lnSpc>
              <a:buFont typeface="Arial"/>
              <a:buChar char="⚬"/>
            </a:pPr>
            <a:r>
              <a:rPr lang="en-US" b="true" sz="471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Release port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71440" y="3256643"/>
            <a:ext cx="11773748" cy="164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40"/>
              </a:lnSpc>
            </a:pPr>
            <a:r>
              <a:rPr lang="en-US" sz="9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DIAGRAM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6201" y="3501484"/>
            <a:ext cx="13742667" cy="164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40"/>
              </a:lnSpc>
            </a:pPr>
            <a:r>
              <a:rPr lang="en-US" sz="9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SEQUENCE</a:t>
            </a:r>
            <a:r>
              <a:rPr lang="en-US" sz="9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DIAGRAM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68617" y="3501484"/>
            <a:ext cx="13742667" cy="164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40"/>
              </a:lnSpc>
            </a:pPr>
            <a:r>
              <a:rPr lang="en-US" sz="9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14920" y="1438275"/>
            <a:ext cx="15050348" cy="732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 STARTS </a:t>
            </a:r>
          </a:p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PORT RESERVED </a:t>
            </a:r>
          </a:p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HOST SERVER RUNS </a:t>
            </a:r>
          </a:p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CLIENT CONNECTS</a:t>
            </a:r>
          </a:p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FILES DISCOVERED </a:t>
            </a:r>
          </a:p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SEEDERS RESOLVED </a:t>
            </a:r>
          </a:p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DOWNLOAD JOB CREATED </a:t>
            </a:r>
          </a:p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WORKERS FETCH CHUNKS </a:t>
            </a:r>
          </a:p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ERRORS HANDLED </a:t>
            </a:r>
          </a:p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FILE COMPLETED.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79379" y="1418050"/>
            <a:ext cx="425327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Seed App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65742" y="4165815"/>
            <a:ext cx="2289678" cy="2289678"/>
          </a:xfrm>
          <a:custGeom>
            <a:avLst/>
            <a:gdLst/>
            <a:ahLst/>
            <a:cxnLst/>
            <a:rect r="r" b="b" t="t" l="l"/>
            <a:pathLst>
              <a:path h="2289678" w="2289678">
                <a:moveTo>
                  <a:pt x="0" y="0"/>
                </a:moveTo>
                <a:lnTo>
                  <a:pt x="2289678" y="0"/>
                </a:lnTo>
                <a:lnTo>
                  <a:pt x="2289678" y="2289678"/>
                </a:lnTo>
                <a:lnTo>
                  <a:pt x="0" y="22896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87809" y="4165815"/>
            <a:ext cx="2289678" cy="2289678"/>
          </a:xfrm>
          <a:custGeom>
            <a:avLst/>
            <a:gdLst/>
            <a:ahLst/>
            <a:cxnLst/>
            <a:rect r="r" b="b" t="t" l="l"/>
            <a:pathLst>
              <a:path h="2289678" w="2289678">
                <a:moveTo>
                  <a:pt x="0" y="0"/>
                </a:moveTo>
                <a:lnTo>
                  <a:pt x="2289678" y="0"/>
                </a:lnTo>
                <a:lnTo>
                  <a:pt x="2289678" y="2289678"/>
                </a:lnTo>
                <a:lnTo>
                  <a:pt x="0" y="22896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6153" y="6940601"/>
            <a:ext cx="627577" cy="805877"/>
          </a:xfrm>
          <a:custGeom>
            <a:avLst/>
            <a:gdLst/>
            <a:ahLst/>
            <a:cxnLst/>
            <a:rect r="r" b="b" t="t" l="l"/>
            <a:pathLst>
              <a:path h="805877" w="627577">
                <a:moveTo>
                  <a:pt x="0" y="0"/>
                </a:moveTo>
                <a:lnTo>
                  <a:pt x="627577" y="0"/>
                </a:lnTo>
                <a:lnTo>
                  <a:pt x="627577" y="805877"/>
                </a:lnTo>
                <a:lnTo>
                  <a:pt x="0" y="8058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18860" y="6940601"/>
            <a:ext cx="627577" cy="805877"/>
          </a:xfrm>
          <a:custGeom>
            <a:avLst/>
            <a:gdLst/>
            <a:ahLst/>
            <a:cxnLst/>
            <a:rect r="r" b="b" t="t" l="l"/>
            <a:pathLst>
              <a:path h="805877" w="627577">
                <a:moveTo>
                  <a:pt x="0" y="0"/>
                </a:moveTo>
                <a:lnTo>
                  <a:pt x="627577" y="0"/>
                </a:lnTo>
                <a:lnTo>
                  <a:pt x="627577" y="805877"/>
                </a:lnTo>
                <a:lnTo>
                  <a:pt x="0" y="8058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10581" y="6940601"/>
            <a:ext cx="627577" cy="805877"/>
          </a:xfrm>
          <a:custGeom>
            <a:avLst/>
            <a:gdLst/>
            <a:ahLst/>
            <a:cxnLst/>
            <a:rect r="r" b="b" t="t" l="l"/>
            <a:pathLst>
              <a:path h="805877" w="627577">
                <a:moveTo>
                  <a:pt x="0" y="0"/>
                </a:moveTo>
                <a:lnTo>
                  <a:pt x="627577" y="0"/>
                </a:lnTo>
                <a:lnTo>
                  <a:pt x="627577" y="805877"/>
                </a:lnTo>
                <a:lnTo>
                  <a:pt x="0" y="8058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90839" y="7985108"/>
            <a:ext cx="357844" cy="357844"/>
          </a:xfrm>
          <a:custGeom>
            <a:avLst/>
            <a:gdLst/>
            <a:ahLst/>
            <a:cxnLst/>
            <a:rect r="r" b="b" t="t" l="l"/>
            <a:pathLst>
              <a:path h="357844" w="357844">
                <a:moveTo>
                  <a:pt x="0" y="0"/>
                </a:moveTo>
                <a:lnTo>
                  <a:pt x="357845" y="0"/>
                </a:lnTo>
                <a:lnTo>
                  <a:pt x="357845" y="357844"/>
                </a:lnTo>
                <a:lnTo>
                  <a:pt x="0" y="3578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45447" y="7985108"/>
            <a:ext cx="357844" cy="357844"/>
          </a:xfrm>
          <a:custGeom>
            <a:avLst/>
            <a:gdLst/>
            <a:ahLst/>
            <a:cxnLst/>
            <a:rect r="r" b="b" t="t" l="l"/>
            <a:pathLst>
              <a:path h="357844" w="357844">
                <a:moveTo>
                  <a:pt x="0" y="0"/>
                </a:moveTo>
                <a:lnTo>
                  <a:pt x="357845" y="0"/>
                </a:lnTo>
                <a:lnTo>
                  <a:pt x="357845" y="357844"/>
                </a:lnTo>
                <a:lnTo>
                  <a:pt x="0" y="3578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53726" y="7985108"/>
            <a:ext cx="357844" cy="357844"/>
          </a:xfrm>
          <a:custGeom>
            <a:avLst/>
            <a:gdLst/>
            <a:ahLst/>
            <a:cxnLst/>
            <a:rect r="r" b="b" t="t" l="l"/>
            <a:pathLst>
              <a:path h="357844" w="357844">
                <a:moveTo>
                  <a:pt x="0" y="0"/>
                </a:moveTo>
                <a:lnTo>
                  <a:pt x="357845" y="0"/>
                </a:lnTo>
                <a:lnTo>
                  <a:pt x="357845" y="357844"/>
                </a:lnTo>
                <a:lnTo>
                  <a:pt x="0" y="3578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297477" y="4811286"/>
            <a:ext cx="1248275" cy="1190542"/>
          </a:xfrm>
          <a:custGeom>
            <a:avLst/>
            <a:gdLst/>
            <a:ahLst/>
            <a:cxnLst/>
            <a:rect r="r" b="b" t="t" l="l"/>
            <a:pathLst>
              <a:path h="1190542" w="1248275">
                <a:moveTo>
                  <a:pt x="0" y="0"/>
                </a:moveTo>
                <a:lnTo>
                  <a:pt x="1248275" y="0"/>
                </a:lnTo>
                <a:lnTo>
                  <a:pt x="1248275" y="1190542"/>
                </a:lnTo>
                <a:lnTo>
                  <a:pt x="0" y="11905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90839" y="4732169"/>
            <a:ext cx="1639483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Seed App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12907" y="4902008"/>
            <a:ext cx="1639483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Seed App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9580" y="3721195"/>
            <a:ext cx="273173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both client and server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87809" y="3721195"/>
            <a:ext cx="273173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both client and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DAHC7dQ8TMg</dc:identifier>
  <dcterms:modified xsi:type="dcterms:W3CDTF">2011-08-01T06:04:30Z</dcterms:modified>
  <cp:revision>1</cp:revision>
  <dc:title>Seed App.pptx</dc:title>
</cp:coreProperties>
</file>