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nva Sans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Canva Sans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26696" y="857250"/>
            <a:ext cx="543460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 App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94172" y="3900156"/>
            <a:ext cx="17945979" cy="365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Peer-to-peer file sharing system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instance acts as both client and server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file downloads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99396"/>
            <a:ext cx="17945979" cy="550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Supports: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discovery peers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Seeder validation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Chunked downloads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98379" y="382648"/>
            <a:ext cx="82783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THREADING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02994" y="2466134"/>
            <a:ext cx="14206877" cy="4780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thread → Menu loop, user input.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7373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 thread →</a:t>
            </a: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Runs accept_clients().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Spawns</a:t>
            </a:r>
            <a:r>
              <a:rPr lang="en-US" sz="340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client threads</a:t>
            </a: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 each incoming connection.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AB76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Tick thread </a:t>
            </a: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Periodically refreshes downloads (every 2s).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517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 threads</a:t>
            </a: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→ Spawned by download_manager for each seeder.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worker connects to a seeder port and fetches chunks.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5432" y="338403"/>
            <a:ext cx="1290200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 VS CLIENT SOCKET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54625"/>
            <a:ext cx="17171317" cy="538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app instance reserves one port (9000–9004)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that port: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creates one listening socket (used only for accept() calls)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a peer connects: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accept() returns a new client socket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new thread is spawned to handle that client socket.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Outgoing connections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creates client sockets to connect to other peers’ server ports.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client socket is independent of the listening socket.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5432" y="338403"/>
            <a:ext cx="1290200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 VS CLIENT SOCKET MODEL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55321" y="2687881"/>
            <a:ext cx="4331256" cy="5346849"/>
            <a:chOff x="0" y="0"/>
            <a:chExt cx="1140742" cy="14082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0742" cy="1408224"/>
            </a:xfrm>
            <a:custGeom>
              <a:avLst/>
              <a:gdLst/>
              <a:ahLst/>
              <a:cxnLst/>
              <a:rect l="l" t="t" r="r" b="b"/>
              <a:pathLst>
                <a:path w="1140742" h="1408224">
                  <a:moveTo>
                    <a:pt x="91160" y="0"/>
                  </a:moveTo>
                  <a:lnTo>
                    <a:pt x="1049582" y="0"/>
                  </a:lnTo>
                  <a:cubicBezTo>
                    <a:pt x="1099929" y="0"/>
                    <a:pt x="1140742" y="40814"/>
                    <a:pt x="1140742" y="91160"/>
                  </a:cubicBezTo>
                  <a:lnTo>
                    <a:pt x="1140742" y="1317063"/>
                  </a:lnTo>
                  <a:cubicBezTo>
                    <a:pt x="1140742" y="1367410"/>
                    <a:pt x="1099929" y="1408224"/>
                    <a:pt x="1049582" y="1408224"/>
                  </a:cubicBezTo>
                  <a:lnTo>
                    <a:pt x="91160" y="1408224"/>
                  </a:lnTo>
                  <a:cubicBezTo>
                    <a:pt x="40814" y="1408224"/>
                    <a:pt x="0" y="1367410"/>
                    <a:pt x="0" y="1317063"/>
                  </a:cubicBezTo>
                  <a:lnTo>
                    <a:pt x="0" y="91160"/>
                  </a:lnTo>
                  <a:cubicBezTo>
                    <a:pt x="0" y="40814"/>
                    <a:pt x="40814" y="0"/>
                    <a:pt x="911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0742" cy="1446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5468" y="3061359"/>
            <a:ext cx="118693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9000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356764" y="1225498"/>
            <a:ext cx="1902536" cy="1902536"/>
            <a:chOff x="0" y="0"/>
            <a:chExt cx="2536715" cy="253671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536715" cy="2536715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395648" y="204581"/>
              <a:ext cx="936485" cy="936485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C7BB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00115" y="1404753"/>
              <a:ext cx="936485" cy="936485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62268" y="212460"/>
              <a:ext cx="975637" cy="460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356764" y="3731887"/>
            <a:ext cx="1902536" cy="190253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7532" y="0"/>
                  </a:moveTo>
                  <a:lnTo>
                    <a:pt x="605268" y="0"/>
                  </a:lnTo>
                  <a:cubicBezTo>
                    <a:pt x="719885" y="0"/>
                    <a:pt x="812800" y="92915"/>
                    <a:pt x="812800" y="207532"/>
                  </a:cubicBezTo>
                  <a:lnTo>
                    <a:pt x="812800" y="605268"/>
                  </a:lnTo>
                  <a:cubicBezTo>
                    <a:pt x="812800" y="719885"/>
                    <a:pt x="719885" y="812800"/>
                    <a:pt x="605268" y="812800"/>
                  </a:cubicBezTo>
                  <a:lnTo>
                    <a:pt x="207532" y="812800"/>
                  </a:lnTo>
                  <a:cubicBezTo>
                    <a:pt x="92915" y="812800"/>
                    <a:pt x="0" y="719885"/>
                    <a:pt x="0" y="605268"/>
                  </a:cubicBezTo>
                  <a:lnTo>
                    <a:pt x="0" y="207532"/>
                  </a:lnTo>
                  <a:cubicBezTo>
                    <a:pt x="0" y="92915"/>
                    <a:pt x="92915" y="0"/>
                    <a:pt x="20753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03500" y="3885323"/>
            <a:ext cx="702364" cy="70236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C7B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956850" y="4785452"/>
            <a:ext cx="702364" cy="70236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5478465" y="3881707"/>
            <a:ext cx="731728" cy="354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9002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356764" y="5910648"/>
            <a:ext cx="1902536" cy="190253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7532" y="0"/>
                  </a:moveTo>
                  <a:lnTo>
                    <a:pt x="605268" y="0"/>
                  </a:lnTo>
                  <a:cubicBezTo>
                    <a:pt x="719885" y="0"/>
                    <a:pt x="812800" y="92915"/>
                    <a:pt x="812800" y="207532"/>
                  </a:cubicBezTo>
                  <a:lnTo>
                    <a:pt x="812800" y="605268"/>
                  </a:lnTo>
                  <a:cubicBezTo>
                    <a:pt x="812800" y="719885"/>
                    <a:pt x="719885" y="812800"/>
                    <a:pt x="605268" y="812800"/>
                  </a:cubicBezTo>
                  <a:lnTo>
                    <a:pt x="207532" y="812800"/>
                  </a:lnTo>
                  <a:cubicBezTo>
                    <a:pt x="92915" y="812800"/>
                    <a:pt x="0" y="719885"/>
                    <a:pt x="0" y="605268"/>
                  </a:cubicBezTo>
                  <a:lnTo>
                    <a:pt x="0" y="207532"/>
                  </a:lnTo>
                  <a:cubicBezTo>
                    <a:pt x="0" y="92915"/>
                    <a:pt x="92915" y="0"/>
                    <a:pt x="20753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403500" y="6064084"/>
            <a:ext cx="702364" cy="702364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C7B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956850" y="6964213"/>
            <a:ext cx="702364" cy="70236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478465" y="6060468"/>
            <a:ext cx="731728" cy="354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9003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5356764" y="8034730"/>
            <a:ext cx="1902536" cy="1902536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07532" y="0"/>
                  </a:moveTo>
                  <a:lnTo>
                    <a:pt x="605268" y="0"/>
                  </a:lnTo>
                  <a:cubicBezTo>
                    <a:pt x="719885" y="0"/>
                    <a:pt x="812800" y="92915"/>
                    <a:pt x="812800" y="207532"/>
                  </a:cubicBezTo>
                  <a:lnTo>
                    <a:pt x="812800" y="605268"/>
                  </a:lnTo>
                  <a:cubicBezTo>
                    <a:pt x="812800" y="719885"/>
                    <a:pt x="719885" y="812800"/>
                    <a:pt x="605268" y="812800"/>
                  </a:cubicBezTo>
                  <a:lnTo>
                    <a:pt x="207532" y="812800"/>
                  </a:lnTo>
                  <a:cubicBezTo>
                    <a:pt x="92915" y="812800"/>
                    <a:pt x="0" y="719885"/>
                    <a:pt x="0" y="605268"/>
                  </a:cubicBezTo>
                  <a:lnTo>
                    <a:pt x="0" y="207532"/>
                  </a:lnTo>
                  <a:cubicBezTo>
                    <a:pt x="0" y="92915"/>
                    <a:pt x="92915" y="0"/>
                    <a:pt x="20753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6403500" y="8188166"/>
            <a:ext cx="702364" cy="702364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C7B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956850" y="9088295"/>
            <a:ext cx="702364" cy="70236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317" tIns="31317" rIns="31317" bIns="3131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5478465" y="8184550"/>
            <a:ext cx="731728" cy="354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9004</a:t>
            </a:r>
          </a:p>
        </p:txBody>
      </p:sp>
      <p:sp>
        <p:nvSpPr>
          <p:cNvPr id="48" name="AutoShape 48"/>
          <p:cNvSpPr/>
          <p:nvPr/>
        </p:nvSpPr>
        <p:spPr>
          <a:xfrm flipV="1">
            <a:off x="4525697" y="2687881"/>
            <a:ext cx="11271318" cy="1172799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n-PH"/>
          </a:p>
        </p:txBody>
      </p:sp>
      <p:sp>
        <p:nvSpPr>
          <p:cNvPr id="49" name="AutoShape 49"/>
          <p:cNvSpPr/>
          <p:nvPr/>
        </p:nvSpPr>
        <p:spPr>
          <a:xfrm flipV="1">
            <a:off x="4415083" y="5165919"/>
            <a:ext cx="11381931" cy="195386"/>
          </a:xfrm>
          <a:prstGeom prst="line">
            <a:avLst/>
          </a:prstGeom>
          <a:ln w="38100" cap="flat">
            <a:solidFill>
              <a:srgbClr val="FF751F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n-PH"/>
          </a:p>
        </p:txBody>
      </p:sp>
      <p:sp>
        <p:nvSpPr>
          <p:cNvPr id="50" name="AutoShape 50"/>
          <p:cNvSpPr/>
          <p:nvPr/>
        </p:nvSpPr>
        <p:spPr>
          <a:xfrm>
            <a:off x="4581187" y="6964213"/>
            <a:ext cx="11215827" cy="300903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n-PH"/>
          </a:p>
        </p:txBody>
      </p:sp>
      <p:sp>
        <p:nvSpPr>
          <p:cNvPr id="51" name="AutoShape 51"/>
          <p:cNvSpPr/>
          <p:nvPr/>
        </p:nvSpPr>
        <p:spPr>
          <a:xfrm>
            <a:off x="2684174" y="7813184"/>
            <a:ext cx="13112840" cy="1639620"/>
          </a:xfrm>
          <a:prstGeom prst="line">
            <a:avLst/>
          </a:prstGeom>
          <a:ln w="38100" cap="flat">
            <a:solidFill>
              <a:srgbClr val="5170FF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n-PH"/>
          </a:p>
        </p:txBody>
      </p:sp>
      <p:grpSp>
        <p:nvGrpSpPr>
          <p:cNvPr id="52" name="Group 52"/>
          <p:cNvGrpSpPr/>
          <p:nvPr/>
        </p:nvGrpSpPr>
        <p:grpSpPr>
          <a:xfrm>
            <a:off x="930809" y="4118576"/>
            <a:ext cx="1792072" cy="1792072"/>
            <a:chOff x="0" y="0"/>
            <a:chExt cx="2389430" cy="2389430"/>
          </a:xfrm>
        </p:grpSpPr>
        <p:grpSp>
          <p:nvGrpSpPr>
            <p:cNvPr id="53" name="Group 53"/>
            <p:cNvGrpSpPr/>
            <p:nvPr/>
          </p:nvGrpSpPr>
          <p:grpSpPr>
            <a:xfrm>
              <a:off x="0" y="0"/>
              <a:ext cx="2389430" cy="2389430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C7BB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57473" y="377146"/>
              <a:ext cx="2074484" cy="1324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37"/>
                </a:lnSpc>
              </a:pPr>
              <a:r>
                <a:rPr lang="en-US" sz="28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server</a:t>
              </a:r>
            </a:p>
            <a:p>
              <a:pPr algn="ctr">
                <a:lnSpc>
                  <a:spcPts val="4037"/>
                </a:lnSpc>
              </a:pPr>
              <a:r>
                <a:rPr lang="en-US" sz="28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socket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83578" y="6527274"/>
            <a:ext cx="1139303" cy="1139303"/>
            <a:chOff x="0" y="0"/>
            <a:chExt cx="1519071" cy="1519071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1519071" cy="1519071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100113" y="247527"/>
              <a:ext cx="1318846" cy="834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66"/>
                </a:lnSpc>
              </a:pPr>
              <a:r>
                <a:rPr lang="en-US" sz="183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client</a:t>
              </a:r>
            </a:p>
            <a:p>
              <a:pPr algn="ctr">
                <a:lnSpc>
                  <a:spcPts val="2566"/>
                </a:lnSpc>
              </a:pPr>
              <a:r>
                <a:rPr lang="en-US" sz="183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socket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119571" y="6256917"/>
            <a:ext cx="1139303" cy="1139303"/>
            <a:chOff x="0" y="0"/>
            <a:chExt cx="1519071" cy="1519071"/>
          </a:xfrm>
        </p:grpSpPr>
        <p:grpSp>
          <p:nvGrpSpPr>
            <p:cNvPr id="63" name="Group 63"/>
            <p:cNvGrpSpPr/>
            <p:nvPr/>
          </p:nvGrpSpPr>
          <p:grpSpPr>
            <a:xfrm>
              <a:off x="0" y="0"/>
              <a:ext cx="1519071" cy="1519071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100113" y="247527"/>
              <a:ext cx="1318846" cy="834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66"/>
                </a:lnSpc>
              </a:pPr>
              <a:r>
                <a:rPr lang="en-US" sz="18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client</a:t>
              </a:r>
            </a:p>
            <a:p>
              <a:pPr algn="ctr">
                <a:lnSpc>
                  <a:spcPts val="2566"/>
                </a:lnSpc>
              </a:pPr>
              <a:r>
                <a:rPr lang="en-US" sz="18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socket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119571" y="4683155"/>
            <a:ext cx="1139303" cy="1139303"/>
            <a:chOff x="0" y="0"/>
            <a:chExt cx="1519071" cy="1519071"/>
          </a:xfrm>
        </p:grpSpPr>
        <p:grpSp>
          <p:nvGrpSpPr>
            <p:cNvPr id="68" name="Group 68"/>
            <p:cNvGrpSpPr/>
            <p:nvPr/>
          </p:nvGrpSpPr>
          <p:grpSpPr>
            <a:xfrm>
              <a:off x="0" y="0"/>
              <a:ext cx="1519071" cy="1519071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14D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1" name="TextBox 71"/>
            <p:cNvSpPr txBox="1"/>
            <p:nvPr/>
          </p:nvSpPr>
          <p:spPr>
            <a:xfrm>
              <a:off x="100113" y="247527"/>
              <a:ext cx="1318846" cy="834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66"/>
                </a:lnSpc>
              </a:pPr>
              <a:r>
                <a:rPr lang="en-US" sz="18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client</a:t>
              </a:r>
            </a:p>
            <a:p>
              <a:pPr algn="ctr">
                <a:lnSpc>
                  <a:spcPts val="2566"/>
                </a:lnSpc>
              </a:pPr>
              <a:r>
                <a:rPr lang="en-US" sz="18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socket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275780" y="3162236"/>
            <a:ext cx="1139303" cy="1139303"/>
            <a:chOff x="0" y="0"/>
            <a:chExt cx="1519071" cy="1519071"/>
          </a:xfrm>
        </p:grpSpPr>
        <p:grpSp>
          <p:nvGrpSpPr>
            <p:cNvPr id="73" name="Group 73"/>
            <p:cNvGrpSpPr/>
            <p:nvPr/>
          </p:nvGrpSpPr>
          <p:grpSpPr>
            <a:xfrm>
              <a:off x="0" y="0"/>
              <a:ext cx="1519071" cy="1519071"/>
              <a:chOff x="0" y="0"/>
              <a:chExt cx="812800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6" name="TextBox 76"/>
            <p:cNvSpPr txBox="1"/>
            <p:nvPr/>
          </p:nvSpPr>
          <p:spPr>
            <a:xfrm>
              <a:off x="100113" y="247527"/>
              <a:ext cx="1318846" cy="834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66"/>
                </a:lnSpc>
              </a:pPr>
              <a:r>
                <a:rPr lang="en-US" sz="18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client</a:t>
              </a:r>
            </a:p>
            <a:p>
              <a:pPr algn="ctr">
                <a:lnSpc>
                  <a:spcPts val="2566"/>
                </a:lnSpc>
              </a:pPr>
              <a:r>
                <a:rPr lang="en-US" sz="183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socket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469851" y="8349055"/>
            <a:ext cx="4428647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AutoNum type="arabicPeriod"/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server listening socket per port</a:t>
            </a:r>
          </a:p>
          <a:p>
            <a:pPr marL="388620" lvl="1" indent="-194310" algn="l">
              <a:lnSpc>
                <a:spcPts val="2520"/>
              </a:lnSpc>
              <a:buAutoNum type="arabicPeriod"/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client sockets (one per connection), each handled in its own thread.</a:t>
            </a:r>
          </a:p>
          <a:p>
            <a:pPr algn="l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6756" y="537527"/>
            <a:ext cx="832260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 &amp; PORT DISCOVERY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30492" y="2719706"/>
            <a:ext cx="9057569" cy="598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 Manager scans a fixed range (9000–9004).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free port → reserved for the server socket.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discover peers: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app attempts to connect to other ports in the range.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connection succeeds, it queries the peer for file lists.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35551" y="2709790"/>
            <a:ext cx="8723749" cy="4291141"/>
          </a:xfrm>
          <a:custGeom>
            <a:avLst/>
            <a:gdLst/>
            <a:ahLst/>
            <a:cxnLst/>
            <a:rect l="l" t="t" r="r" b="b"/>
            <a:pathLst>
              <a:path w="8723749" h="4291141">
                <a:moveTo>
                  <a:pt x="0" y="0"/>
                </a:moveTo>
                <a:lnTo>
                  <a:pt x="8723749" y="0"/>
                </a:lnTo>
                <a:lnTo>
                  <a:pt x="8723749" y="4291142"/>
                </a:lnTo>
                <a:lnTo>
                  <a:pt x="0" y="4291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6519432" y="537527"/>
            <a:ext cx="821199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MENU OPTIONS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6832" y="1874672"/>
            <a:ext cx="9649602" cy="298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1 - Download File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Discover files from peers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file by ID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Resolve live seeders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 download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6832" y="5076825"/>
            <a:ext cx="9649602" cy="238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2 - Download Status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Show progress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Refresh every seconds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Exit on key press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6832" y="7676514"/>
            <a:ext cx="9649602" cy="238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3 - Exit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Stop server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Join threads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Release 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0749" y="4818412"/>
            <a:ext cx="6942940" cy="4897733"/>
          </a:xfrm>
          <a:custGeom>
            <a:avLst/>
            <a:gdLst/>
            <a:ahLst/>
            <a:cxnLst/>
            <a:rect l="l" t="t" r="r" b="b"/>
            <a:pathLst>
              <a:path w="6942940" h="4897733">
                <a:moveTo>
                  <a:pt x="0" y="0"/>
                </a:moveTo>
                <a:lnTo>
                  <a:pt x="6942940" y="0"/>
                </a:lnTo>
                <a:lnTo>
                  <a:pt x="6942940" y="4897733"/>
                </a:lnTo>
                <a:lnTo>
                  <a:pt x="0" y="489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10760749" y="1603993"/>
            <a:ext cx="6774152" cy="3035049"/>
          </a:xfrm>
          <a:custGeom>
            <a:avLst/>
            <a:gdLst/>
            <a:ahLst/>
            <a:cxnLst/>
            <a:rect l="l" t="t" r="r" b="b"/>
            <a:pathLst>
              <a:path w="6774152" h="3035049">
                <a:moveTo>
                  <a:pt x="0" y="0"/>
                </a:moveTo>
                <a:lnTo>
                  <a:pt x="6774152" y="0"/>
                </a:lnTo>
                <a:lnTo>
                  <a:pt x="6774152" y="3035048"/>
                </a:lnTo>
                <a:lnTo>
                  <a:pt x="0" y="3035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6519432" y="537527"/>
            <a:ext cx="1141978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DISCOVERY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6832" y="2719706"/>
            <a:ext cx="9649602" cy="4780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endParaRPr/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 connects to each peer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sends choice 1 → list files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Parses filename\t&lt;size&gt; format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Deduplicates by file.key() (name+size)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 alphabetically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Builds network_file list 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85703" y="6123488"/>
            <a:ext cx="6584213" cy="3778967"/>
          </a:xfrm>
          <a:custGeom>
            <a:avLst/>
            <a:gdLst/>
            <a:ahLst/>
            <a:cxnLst/>
            <a:rect l="l" t="t" r="r" b="b"/>
            <a:pathLst>
              <a:path w="6584213" h="3778967">
                <a:moveTo>
                  <a:pt x="0" y="0"/>
                </a:moveTo>
                <a:lnTo>
                  <a:pt x="6584213" y="0"/>
                </a:lnTo>
                <a:lnTo>
                  <a:pt x="6584213" y="3778967"/>
                </a:lnTo>
                <a:lnTo>
                  <a:pt x="0" y="3778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8878528" y="5858135"/>
            <a:ext cx="8751608" cy="3852748"/>
          </a:xfrm>
          <a:custGeom>
            <a:avLst/>
            <a:gdLst/>
            <a:ahLst/>
            <a:cxnLst/>
            <a:rect l="l" t="t" r="r" b="b"/>
            <a:pathLst>
              <a:path w="8751608" h="3852748">
                <a:moveTo>
                  <a:pt x="0" y="0"/>
                </a:moveTo>
                <a:lnTo>
                  <a:pt x="8751607" y="0"/>
                </a:lnTo>
                <a:lnTo>
                  <a:pt x="8751607" y="3852749"/>
                </a:lnTo>
                <a:lnTo>
                  <a:pt x="0" y="3852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8878528" y="1806004"/>
            <a:ext cx="8437796" cy="3670749"/>
          </a:xfrm>
          <a:custGeom>
            <a:avLst/>
            <a:gdLst/>
            <a:ahLst/>
            <a:cxnLst/>
            <a:rect l="l" t="t" r="r" b="b"/>
            <a:pathLst>
              <a:path w="8437796" h="3670749">
                <a:moveTo>
                  <a:pt x="0" y="0"/>
                </a:moveTo>
                <a:lnTo>
                  <a:pt x="8437795" y="0"/>
                </a:lnTo>
                <a:lnTo>
                  <a:pt x="8437795" y="3670749"/>
                </a:lnTo>
                <a:lnTo>
                  <a:pt x="0" y="3670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TextBox 5"/>
          <p:cNvSpPr txBox="1"/>
          <p:nvPr/>
        </p:nvSpPr>
        <p:spPr>
          <a:xfrm>
            <a:off x="6519432" y="537527"/>
            <a:ext cx="1141978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SEEDER RESOLVE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6881" y="2542724"/>
            <a:ext cx="9649602" cy="358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AppSeederResolver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SeederProbe::probe():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connected ports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Verifies file presence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Return reachable seeders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03202" y="2005182"/>
            <a:ext cx="3617045" cy="962322"/>
            <a:chOff x="0" y="0"/>
            <a:chExt cx="952637" cy="2534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637" cy="253451"/>
            </a:xfrm>
            <a:custGeom>
              <a:avLst/>
              <a:gdLst/>
              <a:ahLst/>
              <a:cxnLst/>
              <a:rect l="l" t="t" r="r" b="b"/>
              <a:pathLst>
                <a:path w="952637" h="253451">
                  <a:moveTo>
                    <a:pt x="109160" y="0"/>
                  </a:moveTo>
                  <a:lnTo>
                    <a:pt x="843477" y="0"/>
                  </a:lnTo>
                  <a:cubicBezTo>
                    <a:pt x="872428" y="0"/>
                    <a:pt x="900193" y="11501"/>
                    <a:pt x="920665" y="31972"/>
                  </a:cubicBezTo>
                  <a:cubicBezTo>
                    <a:pt x="941137" y="52444"/>
                    <a:pt x="952637" y="80209"/>
                    <a:pt x="952637" y="109160"/>
                  </a:cubicBezTo>
                  <a:lnTo>
                    <a:pt x="952637" y="144291"/>
                  </a:lnTo>
                  <a:cubicBezTo>
                    <a:pt x="952637" y="173242"/>
                    <a:pt x="941137" y="201007"/>
                    <a:pt x="920665" y="221479"/>
                  </a:cubicBezTo>
                  <a:cubicBezTo>
                    <a:pt x="900193" y="241950"/>
                    <a:pt x="872428" y="253451"/>
                    <a:pt x="843477" y="253451"/>
                  </a:cubicBezTo>
                  <a:lnTo>
                    <a:pt x="109160" y="253451"/>
                  </a:lnTo>
                  <a:cubicBezTo>
                    <a:pt x="80209" y="253451"/>
                    <a:pt x="52444" y="241950"/>
                    <a:pt x="31972" y="221479"/>
                  </a:cubicBezTo>
                  <a:cubicBezTo>
                    <a:pt x="11501" y="201007"/>
                    <a:pt x="0" y="173242"/>
                    <a:pt x="0" y="144291"/>
                  </a:cubicBezTo>
                  <a:lnTo>
                    <a:pt x="0" y="109160"/>
                  </a:lnTo>
                  <a:cubicBezTo>
                    <a:pt x="0" y="80209"/>
                    <a:pt x="11501" y="52444"/>
                    <a:pt x="31972" y="31972"/>
                  </a:cubicBezTo>
                  <a:cubicBezTo>
                    <a:pt x="52444" y="11501"/>
                    <a:pt x="80209" y="0"/>
                    <a:pt x="109160" y="0"/>
                  </a:cubicBezTo>
                  <a:close/>
                </a:path>
              </a:pathLst>
            </a:custGeom>
            <a:solidFill>
              <a:srgbClr val="AB7633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52637" cy="291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DOWNLOAD MANAGER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33434" y="3263717"/>
            <a:ext cx="4125866" cy="962322"/>
            <a:chOff x="0" y="0"/>
            <a:chExt cx="1086648" cy="2534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6648" cy="253451"/>
            </a:xfrm>
            <a:custGeom>
              <a:avLst/>
              <a:gdLst/>
              <a:ahLst/>
              <a:cxnLst/>
              <a:rect l="l" t="t" r="r" b="b"/>
              <a:pathLst>
                <a:path w="1086648" h="253451">
                  <a:moveTo>
                    <a:pt x="95698" y="0"/>
                  </a:moveTo>
                  <a:lnTo>
                    <a:pt x="990950" y="0"/>
                  </a:lnTo>
                  <a:cubicBezTo>
                    <a:pt x="1043802" y="0"/>
                    <a:pt x="1086648" y="42846"/>
                    <a:pt x="1086648" y="95698"/>
                  </a:cubicBezTo>
                  <a:lnTo>
                    <a:pt x="1086648" y="157753"/>
                  </a:lnTo>
                  <a:cubicBezTo>
                    <a:pt x="1086648" y="210605"/>
                    <a:pt x="1043802" y="253451"/>
                    <a:pt x="990950" y="253451"/>
                  </a:cubicBezTo>
                  <a:lnTo>
                    <a:pt x="95698" y="253451"/>
                  </a:lnTo>
                  <a:cubicBezTo>
                    <a:pt x="42846" y="253451"/>
                    <a:pt x="0" y="210605"/>
                    <a:pt x="0" y="157753"/>
                  </a:cubicBezTo>
                  <a:lnTo>
                    <a:pt x="0" y="95698"/>
                  </a:lnTo>
                  <a:cubicBezTo>
                    <a:pt x="0" y="42846"/>
                    <a:pt x="42846" y="0"/>
                    <a:pt x="95698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86648" cy="291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A)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87810" y="5143500"/>
            <a:ext cx="4125866" cy="962322"/>
            <a:chOff x="0" y="0"/>
            <a:chExt cx="1086648" cy="2534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6648" cy="253451"/>
            </a:xfrm>
            <a:custGeom>
              <a:avLst/>
              <a:gdLst/>
              <a:ahLst/>
              <a:cxnLst/>
              <a:rect l="l" t="t" r="r" b="b"/>
              <a:pathLst>
                <a:path w="1086648" h="253451">
                  <a:moveTo>
                    <a:pt x="95698" y="0"/>
                  </a:moveTo>
                  <a:lnTo>
                    <a:pt x="990950" y="0"/>
                  </a:lnTo>
                  <a:cubicBezTo>
                    <a:pt x="1043802" y="0"/>
                    <a:pt x="1086648" y="42846"/>
                    <a:pt x="1086648" y="95698"/>
                  </a:cubicBezTo>
                  <a:lnTo>
                    <a:pt x="1086648" y="157753"/>
                  </a:lnTo>
                  <a:cubicBezTo>
                    <a:pt x="1086648" y="210605"/>
                    <a:pt x="1043802" y="253451"/>
                    <a:pt x="990950" y="253451"/>
                  </a:cubicBezTo>
                  <a:lnTo>
                    <a:pt x="95698" y="253451"/>
                  </a:lnTo>
                  <a:cubicBezTo>
                    <a:pt x="42846" y="253451"/>
                    <a:pt x="0" y="210605"/>
                    <a:pt x="0" y="157753"/>
                  </a:cubicBezTo>
                  <a:lnTo>
                    <a:pt x="0" y="95698"/>
                  </a:lnTo>
                  <a:cubicBezTo>
                    <a:pt x="0" y="42846"/>
                    <a:pt x="42846" y="0"/>
                    <a:pt x="95698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86648" cy="291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B)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33434" y="6822366"/>
            <a:ext cx="4125866" cy="962322"/>
            <a:chOff x="0" y="0"/>
            <a:chExt cx="1086648" cy="2534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6648" cy="253451"/>
            </a:xfrm>
            <a:custGeom>
              <a:avLst/>
              <a:gdLst/>
              <a:ahLst/>
              <a:cxnLst/>
              <a:rect l="l" t="t" r="r" b="b"/>
              <a:pathLst>
                <a:path w="1086648" h="253451">
                  <a:moveTo>
                    <a:pt x="95698" y="0"/>
                  </a:moveTo>
                  <a:lnTo>
                    <a:pt x="990950" y="0"/>
                  </a:lnTo>
                  <a:cubicBezTo>
                    <a:pt x="1043802" y="0"/>
                    <a:pt x="1086648" y="42846"/>
                    <a:pt x="1086648" y="95698"/>
                  </a:cubicBezTo>
                  <a:lnTo>
                    <a:pt x="1086648" y="157753"/>
                  </a:lnTo>
                  <a:cubicBezTo>
                    <a:pt x="1086648" y="210605"/>
                    <a:pt x="1043802" y="253451"/>
                    <a:pt x="990950" y="253451"/>
                  </a:cubicBezTo>
                  <a:lnTo>
                    <a:pt x="95698" y="253451"/>
                  </a:lnTo>
                  <a:cubicBezTo>
                    <a:pt x="42846" y="253451"/>
                    <a:pt x="0" y="210605"/>
                    <a:pt x="0" y="157753"/>
                  </a:cubicBezTo>
                  <a:lnTo>
                    <a:pt x="0" y="95698"/>
                  </a:lnTo>
                  <a:cubicBezTo>
                    <a:pt x="0" y="42846"/>
                    <a:pt x="42846" y="0"/>
                    <a:pt x="95698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86648" cy="291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B)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1795760" y="2986554"/>
            <a:ext cx="307" cy="43169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5" name="AutoShape 15"/>
          <p:cNvSpPr/>
          <p:nvPr/>
        </p:nvSpPr>
        <p:spPr>
          <a:xfrm>
            <a:off x="11804623" y="3744878"/>
            <a:ext cx="13288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PH"/>
          </a:p>
        </p:txBody>
      </p:sp>
      <p:sp>
        <p:nvSpPr>
          <p:cNvPr id="16" name="AutoShape 16"/>
          <p:cNvSpPr/>
          <p:nvPr/>
        </p:nvSpPr>
        <p:spPr>
          <a:xfrm flipV="1">
            <a:off x="11804623" y="5605611"/>
            <a:ext cx="118318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PH"/>
          </a:p>
        </p:txBody>
      </p:sp>
      <p:sp>
        <p:nvSpPr>
          <p:cNvPr id="17" name="AutoShape 17"/>
          <p:cNvSpPr/>
          <p:nvPr/>
        </p:nvSpPr>
        <p:spPr>
          <a:xfrm flipV="1">
            <a:off x="11796067" y="7265429"/>
            <a:ext cx="118318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PH"/>
          </a:p>
        </p:txBody>
      </p:sp>
      <p:sp>
        <p:nvSpPr>
          <p:cNvPr id="18" name="Freeform 18"/>
          <p:cNvSpPr/>
          <p:nvPr/>
        </p:nvSpPr>
        <p:spPr>
          <a:xfrm>
            <a:off x="1028700" y="1394777"/>
            <a:ext cx="8460052" cy="1971274"/>
          </a:xfrm>
          <a:custGeom>
            <a:avLst/>
            <a:gdLst/>
            <a:ahLst/>
            <a:cxnLst/>
            <a:rect l="l" t="t" r="r" b="b"/>
            <a:pathLst>
              <a:path w="8460052" h="1971274">
                <a:moveTo>
                  <a:pt x="0" y="0"/>
                </a:moveTo>
                <a:lnTo>
                  <a:pt x="8460052" y="0"/>
                </a:lnTo>
                <a:lnTo>
                  <a:pt x="8460052" y="1971274"/>
                </a:lnTo>
                <a:lnTo>
                  <a:pt x="0" y="1971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9" name="TextBox 19"/>
          <p:cNvSpPr txBox="1"/>
          <p:nvPr/>
        </p:nvSpPr>
        <p:spPr>
          <a:xfrm>
            <a:off x="721520" y="3552805"/>
            <a:ext cx="9074412" cy="658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Manager spawns one worker thread per seeder.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worker independently: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Claims chunks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Fetches them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Writes them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all chunks are done: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Last worker renames .part → final file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marked Completed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664021" y="537527"/>
            <a:ext cx="82783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83778" y="4337424"/>
            <a:ext cx="522517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claim_chunk → download → write → mark done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583778" y="6220122"/>
            <a:ext cx="522517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claim_chunk → download → write → mark done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611724" y="8041862"/>
            <a:ext cx="522517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claim_chunk → download → write → mark done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4819" y="338403"/>
            <a:ext cx="82783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DOWNLOADING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47240" y="1736085"/>
            <a:ext cx="14206877" cy="718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split into chunks (default 32 bytes).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worker thread: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Connects to a seeder via client socket  repeatedly.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claim_chunk_static(job):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Iterates over all chunks.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Atomically marks the first available chunk (state = 0 → 1).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Returns that chunk index.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Requests chunks (Downloader::fetch_chunk_on_connection).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Downloads the chunk from its seeder.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Writes them into .part file.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Marks chunk as completed (state = 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51882" y="338403"/>
            <a:ext cx="82783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40562" y="3085569"/>
            <a:ext cx="14206877" cy="658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race to claim the next available chunk.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first thread that successfully flips a chunk’s state gets it.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workers can download different chunks simultaneously.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worker can claim any free chunk, no strict ordering.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a worker fails, its chunk is reset to 0 (unclaimed) so another worker can retry.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load balancing: Faster seeders naturally complete more chunks because they claim more often.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22827" y="1309342"/>
            <a:ext cx="1433647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(Work‑stealing / atomic claim scheduler)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09481" y="1966530"/>
            <a:ext cx="11264559" cy="5694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How to make sure that while downloading we are connected to ports that have just connected recently?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29760" y="537527"/>
            <a:ext cx="82783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TICK THREAD LOGIC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08721" y="2399766"/>
            <a:ext cx="14206877" cy="358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Runs every 2 seconds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Refreshes stalled downloads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resolver (seeder probe) to find new seeders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Spawns new workers if needed especially for cases of those disconnected seeders while downloading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89993" y="367826"/>
            <a:ext cx="1177374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COMPLETION 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40562" y="2112171"/>
            <a:ext cx="14206877" cy="538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exit when done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worker renames .part → final file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Updates status: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Idle 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Downloading 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Completed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Failed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Stalled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89993" y="5948274"/>
            <a:ext cx="7904181" cy="3537535"/>
          </a:xfrm>
          <a:custGeom>
            <a:avLst/>
            <a:gdLst/>
            <a:ahLst/>
            <a:cxnLst/>
            <a:rect l="l" t="t" r="r" b="b"/>
            <a:pathLst>
              <a:path w="7904181" h="3537535">
                <a:moveTo>
                  <a:pt x="0" y="0"/>
                </a:moveTo>
                <a:lnTo>
                  <a:pt x="7904181" y="0"/>
                </a:lnTo>
                <a:lnTo>
                  <a:pt x="7904181" y="3537536"/>
                </a:lnTo>
                <a:lnTo>
                  <a:pt x="0" y="353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4889993" y="367826"/>
            <a:ext cx="1177374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43249" y="2112171"/>
            <a:ext cx="14206877" cy="358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IDLE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active download is happening.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Either waiting for a job to start or no jobs exist.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Rarely used in your flow since jobs usually start directly as Downloading.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3249" y="2112171"/>
            <a:ext cx="16308532" cy="298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Downloading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Active worker threads are fetching chunks from seeders.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Chunks are being claimed, downloaded, and written into the .part file.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is the “normal running” state.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409004" y="5600839"/>
            <a:ext cx="13103740" cy="1166011"/>
          </a:xfrm>
          <a:custGeom>
            <a:avLst/>
            <a:gdLst/>
            <a:ahLst/>
            <a:cxnLst/>
            <a:rect l="l" t="t" r="r" b="b"/>
            <a:pathLst>
              <a:path w="13103740" h="1166011">
                <a:moveTo>
                  <a:pt x="0" y="0"/>
                </a:moveTo>
                <a:lnTo>
                  <a:pt x="13103740" y="0"/>
                </a:lnTo>
                <a:lnTo>
                  <a:pt x="13103740" y="1166011"/>
                </a:lnTo>
                <a:lnTo>
                  <a:pt x="0" y="1166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4889993" y="367826"/>
            <a:ext cx="1177374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3249" y="2112171"/>
            <a:ext cx="16308532" cy="358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Completed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chunks have been successfully downloaded.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.part file is renamed to the final file.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marked as finished, no more worker threads running.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43249" y="5456664"/>
            <a:ext cx="14167403" cy="655634"/>
          </a:xfrm>
          <a:custGeom>
            <a:avLst/>
            <a:gdLst/>
            <a:ahLst/>
            <a:cxnLst/>
            <a:rect l="l" t="t" r="r" b="b"/>
            <a:pathLst>
              <a:path w="14167403" h="655634">
                <a:moveTo>
                  <a:pt x="0" y="0"/>
                </a:moveTo>
                <a:lnTo>
                  <a:pt x="14167403" y="0"/>
                </a:lnTo>
                <a:lnTo>
                  <a:pt x="14167403" y="655634"/>
                </a:lnTo>
                <a:lnTo>
                  <a:pt x="0" y="655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4889993" y="367826"/>
            <a:ext cx="1177374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3249" y="2112171"/>
            <a:ext cx="14936925" cy="538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Stalled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progress has stopped (no seeders available, workers exited without completing).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failed yet — system will try to recover by refreshing seeders in the tick thread.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Acts as a “pause” state until new seeders are found.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783959" y="6417729"/>
            <a:ext cx="15262587" cy="849975"/>
          </a:xfrm>
          <a:custGeom>
            <a:avLst/>
            <a:gdLst/>
            <a:ahLst/>
            <a:cxnLst/>
            <a:rect l="l" t="t" r="r" b="b"/>
            <a:pathLst>
              <a:path w="15262587" h="849975">
                <a:moveTo>
                  <a:pt x="0" y="0"/>
                </a:moveTo>
                <a:lnTo>
                  <a:pt x="15262586" y="0"/>
                </a:lnTo>
                <a:lnTo>
                  <a:pt x="15262586" y="849974"/>
                </a:lnTo>
                <a:lnTo>
                  <a:pt x="0" y="849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4889993" y="367826"/>
            <a:ext cx="1177374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3249" y="2112171"/>
            <a:ext cx="14936925" cy="538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Stalled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progress has stopped (no seeders available, workers exited without completing).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failed yet — system will try to recover by refreshing seeders in the tick thread.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Acts as a “pause” state until new seeders are found.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783959" y="6417729"/>
            <a:ext cx="15262587" cy="849975"/>
          </a:xfrm>
          <a:custGeom>
            <a:avLst/>
            <a:gdLst/>
            <a:ahLst/>
            <a:cxnLst/>
            <a:rect l="l" t="t" r="r" b="b"/>
            <a:pathLst>
              <a:path w="15262587" h="849975">
                <a:moveTo>
                  <a:pt x="0" y="0"/>
                </a:moveTo>
                <a:lnTo>
                  <a:pt x="15262586" y="0"/>
                </a:lnTo>
                <a:lnTo>
                  <a:pt x="15262586" y="849974"/>
                </a:lnTo>
                <a:lnTo>
                  <a:pt x="0" y="849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4889993" y="367826"/>
            <a:ext cx="1177374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3249" y="2112171"/>
            <a:ext cx="14936925" cy="4780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Failed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source file on the seeder was deleted or moved.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output file cannot be created or written to (disk full, permission denied).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Protocol violation (wrong chunk size, invalid offset).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89993" y="367826"/>
            <a:ext cx="1177374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6839" y="279335"/>
            <a:ext cx="1177374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CLEAN 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71506" y="2466134"/>
            <a:ext cx="14206877" cy="358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exit: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Cancels jobs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Joins threads</a:t>
            </a:r>
          </a:p>
          <a:p>
            <a:pPr marL="1468138" lvl="2" indent="-489379" algn="l">
              <a:lnSpc>
                <a:spcPts val="47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Releases port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950</Words>
  <Application>Microsoft Office PowerPoint</Application>
  <PresentationFormat>Custom</PresentationFormat>
  <Paragraphs>168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Canva Sans Bold</vt:lpstr>
      <vt:lpstr>Arial</vt:lpstr>
      <vt:lpstr>Canva Sans Bold Italics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Seed App</dc:title>
  <cp:lastModifiedBy>Mary Lynn Dela Cruz</cp:lastModifiedBy>
  <cp:revision>2</cp:revision>
  <dcterms:created xsi:type="dcterms:W3CDTF">2006-08-16T00:00:00Z</dcterms:created>
  <dcterms:modified xsi:type="dcterms:W3CDTF">2026-03-01T19:54:27Z</dcterms:modified>
  <dc:identifier>DAHCufbzpWU</dc:identifier>
</cp:coreProperties>
</file>