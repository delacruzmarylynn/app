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</p:sldIdLst>
  <p:sldSz cx="18288000" cy="10287000"/>
  <p:notesSz cx="6858000" cy="9144000"/>
  <p:embeddedFontLst>
    <p:embeddedFont>
      <p:font typeface="Canva Sans" panose="020B0604020202020204" charset="0"/>
      <p:regular r:id="rId39"/>
    </p:embeddedFont>
    <p:embeddedFont>
      <p:font typeface="Canva Sans Bold" panose="020B0604020202020204" charset="0"/>
      <p:regular r:id="rId40"/>
    </p:embeddedFont>
    <p:embeddedFont>
      <p:font typeface="Canva Sans Bold Italics" panose="020B0604020202020204" charset="0"/>
      <p:regular r:id="rId4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2.fntdata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945EF2-A068-483B-992B-93DA3739C852}" type="datetimeFigureOut">
              <a:rPr lang="en-PH" smtClean="0"/>
              <a:t>3/2/2026</a:t>
            </a:fld>
            <a:endParaRPr lang="en-P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DB7A15-2ED2-485D-9FD2-B8844FDCB40D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705197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the user starts the application, the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seed_app</a:t>
            </a:r>
            <a:r>
              <a:rPr lang="en-US" dirty="0"/>
              <a:t> is initialized. This is the entry point of the system. Its job is to set up networking, show the menu, and coordinate downloads.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seed_app</a:t>
            </a:r>
            <a:r>
              <a:rPr lang="en-US" dirty="0"/>
              <a:t> calls the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port_manager</a:t>
            </a:r>
            <a:r>
              <a:rPr lang="en-US" dirty="0"/>
              <a:t> to reserve a free port (between 9000–9005). This port becomes the peer’s identity in the network.</a:t>
            </a:r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DB7A15-2ED2-485D-9FD2-B8844FDCB40D}" type="slidenum">
              <a:rPr lang="en-PH" smtClean="0"/>
              <a:t>24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54149137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3AFDB-F5BE-D2B6-1D04-3A7E2133E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2E93A0-C33B-9926-6166-1B2573FC36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C3EA18-F079-89F3-C5A0-7F9047651B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port_manager</a:t>
            </a:r>
            <a:r>
              <a:rPr lang="en-US" dirty="0"/>
              <a:t> keeps track of which ports are available, reserved, or released. It ensures no two peers collide on the same port.</a:t>
            </a: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reserve_port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binds a socket to a port.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release_port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frees it when the app exits.</a:t>
            </a:r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19B3B-8E93-CED8-0366-CC0A4A21C7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DB7A15-2ED2-485D-9FD2-B8844FDCB40D}" type="slidenum">
              <a:rPr lang="en-PH" smtClean="0"/>
              <a:t>25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244313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D0FA9-CB0C-02CC-021E-A4F05B600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BF9C82-B66C-B7A6-6D55-831BFF414D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118568-4D46-1694-0E16-C5D16AAA0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“Once a port is reserved, the app spins up a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Host</a:t>
            </a:r>
            <a:r>
              <a:rPr lang="en-US" dirty="0"/>
              <a:t> server. This is the server side of the peer. It listens for incoming connections and serves chunks to other peers.</a:t>
            </a:r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32C457-A662-4442-D5BC-FE2DD03829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DB7A15-2ED2-485D-9FD2-B8844FDCB40D}" type="slidenum">
              <a:rPr lang="en-PH" smtClean="0"/>
              <a:t>26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5726492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A356D-3AC0-9A9E-0D4A-0857771FEB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D04A60-06EE-52F2-8453-A5AC077B92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1B1D5D-2804-24FE-9089-084B841FE6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“The user sees a menu with options: download a file, check status, or exit. Choosing download triggers peer discovery.</a:t>
            </a: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seed_app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::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display_menu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  <a:r>
              <a:rPr lang="en-US" dirty="0">
                <a:effectLst/>
              </a:rPr>
              <a:t> shows options.</a:t>
            </a:r>
          </a:p>
          <a:p>
            <a:r>
              <a:rPr lang="en-US" dirty="0">
                <a:effectLst/>
              </a:rPr>
              <a:t>Input is read and passed to the appropriate function.</a:t>
            </a:r>
          </a:p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0F0A74-5C16-E37C-E05B-0468DB77B7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DB7A15-2ED2-485D-9FD2-B8844FDCB40D}" type="slidenum">
              <a:rPr lang="en-PH" smtClean="0"/>
              <a:t>27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9242591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2FE83-5D65-DE33-17B2-6167BA18E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AE02C6-8005-7338-3F65-6187FB367D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AB70A2-5984-ED26-FFCC-289E1C8B6A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discover files, the app queries other peers. It uses the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Client</a:t>
            </a:r>
            <a:r>
              <a:rPr lang="en-US" dirty="0"/>
              <a:t> class to connect to each peer’s Host and request their file list.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Client::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send_choice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(1)</a:t>
            </a:r>
            <a:r>
              <a:rPr lang="en-US" dirty="0">
                <a:effectLst/>
              </a:rPr>
              <a:t> asks for available files.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Host::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list_available_files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  <a:r>
              <a:rPr lang="en-US" dirty="0">
                <a:effectLst/>
              </a:rPr>
              <a:t> responds with filenames and sizes.</a:t>
            </a: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seed_app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::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list_unique_files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  <a:r>
              <a:rPr lang="en-US" dirty="0">
                <a:effectLst/>
              </a:rPr>
              <a:t> parses replies, removes duplicates, and wraps each file in 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network_file</a:t>
            </a:r>
            <a:r>
              <a:rPr lang="en-US" dirty="0">
                <a:effectLst/>
              </a:rPr>
              <a:t> object.</a:t>
            </a:r>
          </a:p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43BB7F-8D0A-52DF-C1FB-51677C0DA2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DB7A15-2ED2-485D-9FD2-B8844FDCB40D}" type="slidenum">
              <a:rPr lang="en-PH" smtClean="0"/>
              <a:t>28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7678164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DD44F-ED3F-AF6E-CD51-6160A296D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3FB144-F62F-EC8E-83E5-FA71226BCF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1C0208-2CFB-559D-B6A3-FE7F9376AF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network_file</a:t>
            </a:r>
            <a:r>
              <a:rPr lang="en-US" dirty="0"/>
              <a:t> represents a candidate file in the network. It contains metadata (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File</a:t>
            </a:r>
            <a:r>
              <a:rPr lang="en-US" dirty="0"/>
              <a:t>) and a list of seeders that host it.</a:t>
            </a: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network_file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::get_info()</a:t>
            </a:r>
            <a:r>
              <a:rPr lang="en-US" dirty="0">
                <a:effectLst/>
              </a:rPr>
              <a:t> returns file details.</a:t>
            </a: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network_file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::add_seeder()</a:t>
            </a:r>
            <a:r>
              <a:rPr lang="en-US" dirty="0">
                <a:effectLst/>
              </a:rPr>
              <a:t> adds peers that have the file.</a:t>
            </a:r>
          </a:p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39514C-A6D1-FFD6-AB30-812D5CB5BF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DB7A15-2ED2-485D-9FD2-B8844FDCB40D}" type="slidenum">
              <a:rPr lang="en-PH" smtClean="0"/>
              <a:t>29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051737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F0FB8-A43C-3CE8-78E8-E7C9ECA4E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72A552-6F58-5A60-C648-09C511E185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0B2D02-0791-65C6-9F55-EB6376AE97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Once the user selects a file, the app needs to check which seeders are actually reachable. That’s where the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AppSeederResolver</a:t>
            </a:r>
            <a:r>
              <a:rPr lang="en-US" dirty="0"/>
              <a:t> and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SeederProbe</a:t>
            </a:r>
            <a:r>
              <a:rPr lang="en-US" dirty="0"/>
              <a:t> come in.</a:t>
            </a:r>
          </a:p>
          <a:p>
            <a:endParaRPr lang="en-US" dirty="0"/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AppSeederResolver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::resolve()</a:t>
            </a:r>
            <a:r>
              <a:rPr lang="en-US" dirty="0">
                <a:effectLst/>
              </a:rPr>
              <a:t> calls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SeederProbe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::probe()</a:t>
            </a:r>
            <a:r>
              <a:rPr lang="en-US" dirty="0">
                <a:effectLst/>
              </a:rPr>
              <a:t>.</a:t>
            </a: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SeederProbe</a:t>
            </a:r>
            <a:r>
              <a:rPr lang="en-US" dirty="0">
                <a:effectLst/>
              </a:rPr>
              <a:t> connects to each candidate seeder using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Client</a:t>
            </a:r>
            <a:r>
              <a:rPr lang="en-US" dirty="0">
                <a:effectLst/>
              </a:rPr>
              <a:t>, sends a ‘have file’ request, and validates the reply.</a:t>
            </a:r>
          </a:p>
          <a:p>
            <a:r>
              <a:rPr lang="en-US" dirty="0">
                <a:effectLst/>
              </a:rPr>
              <a:t>Only reachable seeders are returned.</a:t>
            </a:r>
          </a:p>
          <a:p>
            <a:endParaRPr lang="en-US" dirty="0"/>
          </a:p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7D0AFD-A0E5-3CB8-C77E-A611CA0A8E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DB7A15-2ED2-485D-9FD2-B8844FDCB40D}" type="slidenum">
              <a:rPr lang="en-PH" smtClean="0"/>
              <a:t>30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274562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438E38-AFCD-79A1-966C-759CFE2E5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157705-1CAD-32A3-512F-883046BFE3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6D9D0E-1DD9-638D-5135-BE79C50345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 live seeders identified, the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download_manager</a:t>
            </a:r>
            <a:r>
              <a:rPr lang="en-US" dirty="0"/>
              <a:t> creates a new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download</a:t>
            </a:r>
            <a:r>
              <a:rPr lang="en-US" dirty="0"/>
              <a:t> job. It pre‑sizes a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.part</a:t>
            </a:r>
            <a:r>
              <a:rPr lang="en-US" dirty="0"/>
              <a:t> file, initializes chunk states, and spawns worker threads for each seeder.</a:t>
            </a: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download_manager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::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add_download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  <a:r>
              <a:rPr lang="en-US" dirty="0">
                <a:effectLst/>
              </a:rPr>
              <a:t> sets up the job.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download</a:t>
            </a:r>
            <a:r>
              <a:rPr lang="en-US" dirty="0">
                <a:effectLst/>
              </a:rPr>
              <a:t> stores file key, chunk states, progress counters, and error messages.</a:t>
            </a: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spawn_worker_for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  <a:r>
              <a:rPr lang="en-US" dirty="0">
                <a:effectLst/>
              </a:rPr>
              <a:t> creates threads to fetch chunks.</a:t>
            </a:r>
          </a:p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CD98F5-DE92-8915-489D-3187EF90DC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DB7A15-2ED2-485D-9FD2-B8844FDCB40D}" type="slidenum">
              <a:rPr lang="en-PH" smtClean="0"/>
              <a:t>31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7257538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78AD7D-4034-C07A-DAB1-E480E015F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A0ED4F-60DC-766D-FF9B-D289725A95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B333E8-02ED-1220-1D9D-20BED09FFF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worker thread uses the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Downloader</a:t>
            </a:r>
            <a:r>
              <a:rPr lang="en-US" dirty="0"/>
              <a:t> class to request chunks from a seeder. The downloader sends the file key, offset, and length, then receives the bytes.</a:t>
            </a:r>
          </a:p>
          <a:p>
            <a:r>
              <a:rPr lang="en-US" dirty="0"/>
              <a:t>Downloader::</a:t>
            </a:r>
            <a:r>
              <a:rPr lang="en-US" dirty="0" err="1"/>
              <a:t>fetch_chunk_on_connection</a:t>
            </a:r>
            <a:r>
              <a:rPr lang="en-US" dirty="0"/>
              <a:t>() implements the chunk protocol.</a:t>
            </a:r>
          </a:p>
          <a:p>
            <a:r>
              <a:rPr lang="en-US" dirty="0"/>
              <a:t>Returns a </a:t>
            </a:r>
            <a:r>
              <a:rPr lang="en-US" dirty="0" err="1"/>
              <a:t>ChunkResult</a:t>
            </a:r>
            <a:r>
              <a:rPr lang="en-US" dirty="0"/>
              <a:t> with success flag, data, or error.</a:t>
            </a:r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A8F3AC-9F7F-5B5F-75AA-2E054C69A3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DB7A15-2ED2-485D-9FD2-B8844FDCB40D}" type="slidenum">
              <a:rPr lang="en-PH" smtClean="0"/>
              <a:t>32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069220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6DB78-C612-0DC7-0962-097B2CF89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80FBE0-9E31-F888-9CBF-E0181F0726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287962-B20A-FB70-05DB-7A091C3825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chunk request produces 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ChunkResult</a:t>
            </a:r>
            <a:r>
              <a:rPr lang="en-US" dirty="0"/>
              <a:t>. It tells us whether the chunk was successfully fetched, how many bytes were received, and if there was an error.</a:t>
            </a: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ChunkResult.ok</a:t>
            </a:r>
            <a:r>
              <a:rPr lang="en-US" dirty="0">
                <a:effectLst/>
              </a:rPr>
              <a:t> indicates success.</a:t>
            </a: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ChunkResult.error</a:t>
            </a:r>
            <a:r>
              <a:rPr lang="en-US" dirty="0">
                <a:effectLst/>
              </a:rPr>
              <a:t> explains failures.</a:t>
            </a:r>
          </a:p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F43DB3-F5B9-FF08-FCC6-C1FE7B07D9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DB7A15-2ED2-485D-9FD2-B8844FDCB40D}" type="slidenum">
              <a:rPr lang="en-PH" smtClean="0"/>
              <a:t>33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307080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8EDC13-6C93-5C05-5563-81AAFE295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662277-E727-4932-4643-D1E9645A28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052F49-C893-01CA-4D6F-ED35B40EC5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“If a seeder fails, the worker marks it dead and calls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refresh_seeders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to try new ones. If no seeders remain, the job stalls. If the file can’t be written, the job fails.</a:t>
            </a: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download_manager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::tick()</a:t>
            </a:r>
            <a:r>
              <a:rPr lang="en-US" dirty="0"/>
              <a:t> periodically refreshes seeders.</a:t>
            </a:r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583C89-762A-1E1D-1EC8-F8C4D7FF27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DB7A15-2ED2-485D-9FD2-B8844FDCB40D}" type="slidenum">
              <a:rPr lang="en-PH" smtClean="0"/>
              <a:t>34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8257284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ED546-CB27-ED94-2F58-F5930645D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F16C07-1121-3E4B-8755-B6B3574C42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A07DA8-F83E-C73C-A6F0-4217350132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all chunks are done, the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.part</a:t>
            </a:r>
            <a:r>
              <a:rPr lang="en-US" dirty="0"/>
              <a:t> file is renamed to the final filename. The job state becomes </a:t>
            </a:r>
            <a:r>
              <a:rPr lang="en-US" b="1" dirty="0">
                <a:effectLst/>
              </a:rPr>
              <a:t>Completed</a:t>
            </a:r>
            <a:r>
              <a:rPr lang="en-US" dirty="0"/>
              <a:t>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WorkerExitGuard</a:t>
            </a:r>
            <a:r>
              <a:rPr lang="en-US" dirty="0"/>
              <a:t> in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worker_run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handles the final rename and marks the job completed. “At any time, the user can check download status. The manager prints progress, seeder ports, and state.”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download_manager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::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get_status_string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builds the status line.</a:t>
            </a:r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1CD278-7699-672B-147B-8D02123DEB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DB7A15-2ED2-485D-9FD2-B8844FDCB40D}" type="slidenum">
              <a:rPr lang="en-PH" smtClean="0"/>
              <a:t>35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480135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73D82-7416-EB36-3A73-A123A08C5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9C9423-18C3-048C-3A32-C981D6C7CA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719592-587A-FAB8-F68B-9E92E7B040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all chunks are done, the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.part</a:t>
            </a:r>
            <a:r>
              <a:rPr lang="en-US" dirty="0"/>
              <a:t> file is renamed to the final filename. The job state becomes </a:t>
            </a:r>
            <a:r>
              <a:rPr lang="en-US" b="1" dirty="0">
                <a:effectLst/>
              </a:rPr>
              <a:t>Completed</a:t>
            </a:r>
            <a:r>
              <a:rPr lang="en-US" dirty="0"/>
              <a:t>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WorkerExitGuard</a:t>
            </a:r>
            <a:r>
              <a:rPr lang="en-US" dirty="0"/>
              <a:t> in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worker_run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handles the final rename and marks the job completed. “At any time, the user can check download status. The manager prints progress, seeder ports, and state.”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download_manager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::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get_status_string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builds the status line.</a:t>
            </a:r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505737-4A25-8C8D-34ED-A1C9255867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DB7A15-2ED2-485D-9FD2-B8844FDCB40D}" type="slidenum">
              <a:rPr lang="en-PH" smtClean="0"/>
              <a:t>36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91723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426696" y="857250"/>
            <a:ext cx="5434608" cy="15665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Seed App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294172" y="3900156"/>
            <a:ext cx="17945979" cy="3658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1122679" lvl="1" indent="-561340" algn="l">
              <a:lnSpc>
                <a:spcPts val="7279"/>
              </a:lnSpc>
              <a:buFont typeface="Arial"/>
              <a:buChar char="•"/>
            </a:pPr>
            <a:r>
              <a:rPr lang="en-US" sz="51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Peer-to-peer file sharing system</a:t>
            </a:r>
          </a:p>
          <a:p>
            <a:pPr marL="1122679" lvl="1" indent="-561340" algn="l">
              <a:lnSpc>
                <a:spcPts val="7279"/>
              </a:lnSpc>
              <a:buFont typeface="Arial"/>
              <a:buChar char="•"/>
            </a:pPr>
            <a:r>
              <a:rPr lang="en-US" sz="51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Each instance acts as both client and server</a:t>
            </a:r>
          </a:p>
          <a:p>
            <a:pPr marL="1122679" lvl="1" indent="-561340" algn="l">
              <a:lnSpc>
                <a:spcPts val="7279"/>
              </a:lnSpc>
              <a:buFont typeface="Arial"/>
              <a:buChar char="•"/>
            </a:pPr>
            <a:r>
              <a:rPr lang="en-US" sz="51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Multiple file downloads</a:t>
            </a:r>
          </a:p>
          <a:p>
            <a:pPr algn="l">
              <a:lnSpc>
                <a:spcPts val="7279"/>
              </a:lnSpc>
            </a:pPr>
            <a:endParaRPr lang="en-US" sz="5199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1599396"/>
            <a:ext cx="17945979" cy="5506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Supports:</a:t>
            </a:r>
          </a:p>
          <a:p>
            <a:pPr algn="l">
              <a:lnSpc>
                <a:spcPts val="7279"/>
              </a:lnSpc>
            </a:pPr>
            <a:endParaRPr lang="en-US" sz="5199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marL="1122679" lvl="1" indent="-561340" algn="l">
              <a:lnSpc>
                <a:spcPts val="7279"/>
              </a:lnSpc>
              <a:buFont typeface="Arial"/>
              <a:buChar char="•"/>
            </a:pPr>
            <a:r>
              <a:rPr lang="en-US" sz="51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File discovery peers</a:t>
            </a:r>
          </a:p>
          <a:p>
            <a:pPr marL="1122679" lvl="1" indent="-561340" algn="l">
              <a:lnSpc>
                <a:spcPts val="7279"/>
              </a:lnSpc>
              <a:buFont typeface="Arial"/>
              <a:buChar char="•"/>
            </a:pPr>
            <a:r>
              <a:rPr lang="en-US" sz="51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Seeder validation</a:t>
            </a:r>
          </a:p>
          <a:p>
            <a:pPr marL="1122679" lvl="1" indent="-561340" algn="l">
              <a:lnSpc>
                <a:spcPts val="7279"/>
              </a:lnSpc>
              <a:buFont typeface="Arial"/>
              <a:buChar char="•"/>
            </a:pPr>
            <a:r>
              <a:rPr lang="en-US" sz="51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Chunked downloads</a:t>
            </a:r>
          </a:p>
          <a:p>
            <a:pPr marL="1122679" lvl="1" indent="-561340" algn="l">
              <a:lnSpc>
                <a:spcPts val="7279"/>
              </a:lnSpc>
              <a:buFont typeface="Arial"/>
              <a:buChar char="•"/>
            </a:pPr>
            <a:r>
              <a:rPr lang="en-US" sz="51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Download status monitoring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298379" y="382648"/>
            <a:ext cx="8278362" cy="887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THREADING MODEL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802994" y="2466134"/>
            <a:ext cx="14206877" cy="47809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Main thread → Menu loop, user input.</a:t>
            </a:r>
          </a:p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737373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Server thread →</a:t>
            </a: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Runs accept_clients().</a:t>
            </a:r>
          </a:p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Spawns</a:t>
            </a:r>
            <a:r>
              <a:rPr lang="en-US" sz="3400" b="1">
                <a:solidFill>
                  <a:srgbClr val="FF313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client threads</a:t>
            </a: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for each incoming connection.</a:t>
            </a:r>
          </a:p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AB7633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Tick thread </a:t>
            </a: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 Periodically refreshes downloads (every 2s).</a:t>
            </a:r>
          </a:p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5170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Worker threads</a:t>
            </a: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→ Spawned by download_manager for each seeder.</a:t>
            </a:r>
          </a:p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Each worker connects to a seeder port and fetches chunks.</a:t>
            </a:r>
          </a:p>
          <a:p>
            <a:pPr algn="l">
              <a:lnSpc>
                <a:spcPts val="4760"/>
              </a:lnSpc>
            </a:pPr>
            <a:endParaRPr lang="en-US" sz="34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845432" y="338403"/>
            <a:ext cx="12902005" cy="887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SERVER VS CLIENT SOCKET MODEL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28700" y="2554625"/>
            <a:ext cx="17171317" cy="53809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Each app instance reserves one port (9000–9004)</a:t>
            </a:r>
          </a:p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On that port: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It creates one listening socket (used only for accept() calls)</a:t>
            </a:r>
          </a:p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When a peer connects: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accept() returns a new client socket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new thread is spawned to handle that client socket.</a:t>
            </a:r>
          </a:p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Outgoing connections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creates client sockets to connect to other peers’ server ports.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Each client socket is independent of the listening socket.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845432" y="338403"/>
            <a:ext cx="12902005" cy="887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SERVER VS CLIENT SOCKET MODEL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455321" y="2687881"/>
            <a:ext cx="4331256" cy="5346849"/>
            <a:chOff x="0" y="0"/>
            <a:chExt cx="1140742" cy="140822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0742" cy="1408224"/>
            </a:xfrm>
            <a:custGeom>
              <a:avLst/>
              <a:gdLst/>
              <a:ahLst/>
              <a:cxnLst/>
              <a:rect l="l" t="t" r="r" b="b"/>
              <a:pathLst>
                <a:path w="1140742" h="1408224">
                  <a:moveTo>
                    <a:pt x="91160" y="0"/>
                  </a:moveTo>
                  <a:lnTo>
                    <a:pt x="1049582" y="0"/>
                  </a:lnTo>
                  <a:cubicBezTo>
                    <a:pt x="1099929" y="0"/>
                    <a:pt x="1140742" y="40814"/>
                    <a:pt x="1140742" y="91160"/>
                  </a:cubicBezTo>
                  <a:lnTo>
                    <a:pt x="1140742" y="1317063"/>
                  </a:lnTo>
                  <a:cubicBezTo>
                    <a:pt x="1140742" y="1367410"/>
                    <a:pt x="1099929" y="1408224"/>
                    <a:pt x="1049582" y="1408224"/>
                  </a:cubicBezTo>
                  <a:lnTo>
                    <a:pt x="91160" y="1408224"/>
                  </a:lnTo>
                  <a:cubicBezTo>
                    <a:pt x="40814" y="1408224"/>
                    <a:pt x="0" y="1367410"/>
                    <a:pt x="0" y="1317063"/>
                  </a:cubicBezTo>
                  <a:lnTo>
                    <a:pt x="0" y="91160"/>
                  </a:lnTo>
                  <a:cubicBezTo>
                    <a:pt x="0" y="40814"/>
                    <a:pt x="40814" y="0"/>
                    <a:pt x="911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0742" cy="144632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785468" y="3061359"/>
            <a:ext cx="1186934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9000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5356764" y="1225498"/>
            <a:ext cx="1902536" cy="1902536"/>
            <a:chOff x="0" y="0"/>
            <a:chExt cx="2536715" cy="2536715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2536715" cy="2536715"/>
              <a:chOff x="0" y="0"/>
              <a:chExt cx="812800" cy="812800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127941" y="0"/>
                    </a:moveTo>
                    <a:lnTo>
                      <a:pt x="684859" y="0"/>
                    </a:lnTo>
                    <a:cubicBezTo>
                      <a:pt x="718791" y="0"/>
                      <a:pt x="751333" y="13479"/>
                      <a:pt x="775327" y="37473"/>
                    </a:cubicBezTo>
                    <a:cubicBezTo>
                      <a:pt x="799321" y="61467"/>
                      <a:pt x="812800" y="94009"/>
                      <a:pt x="812800" y="127941"/>
                    </a:cubicBezTo>
                    <a:lnTo>
                      <a:pt x="812800" y="684859"/>
                    </a:lnTo>
                    <a:cubicBezTo>
                      <a:pt x="812800" y="718791"/>
                      <a:pt x="799321" y="751333"/>
                      <a:pt x="775327" y="775327"/>
                    </a:cubicBezTo>
                    <a:cubicBezTo>
                      <a:pt x="751333" y="799321"/>
                      <a:pt x="718791" y="812800"/>
                      <a:pt x="684859" y="812800"/>
                    </a:cubicBezTo>
                    <a:lnTo>
                      <a:pt x="127941" y="812800"/>
                    </a:lnTo>
                    <a:cubicBezTo>
                      <a:pt x="94009" y="812800"/>
                      <a:pt x="61467" y="799321"/>
                      <a:pt x="37473" y="775327"/>
                    </a:cubicBezTo>
                    <a:cubicBezTo>
                      <a:pt x="13479" y="751333"/>
                      <a:pt x="0" y="718791"/>
                      <a:pt x="0" y="684859"/>
                    </a:cubicBezTo>
                    <a:lnTo>
                      <a:pt x="0" y="127941"/>
                    </a:lnTo>
                    <a:cubicBezTo>
                      <a:pt x="0" y="94009"/>
                      <a:pt x="13479" y="61467"/>
                      <a:pt x="37473" y="37473"/>
                    </a:cubicBezTo>
                    <a:cubicBezTo>
                      <a:pt x="61467" y="13479"/>
                      <a:pt x="94009" y="0"/>
                      <a:pt x="12794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PH"/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0" y="-38100"/>
                <a:ext cx="812800" cy="8509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11" name="Group 11"/>
            <p:cNvGrpSpPr/>
            <p:nvPr/>
          </p:nvGrpSpPr>
          <p:grpSpPr>
            <a:xfrm>
              <a:off x="1395648" y="204581"/>
              <a:ext cx="936485" cy="936485"/>
              <a:chOff x="0" y="0"/>
              <a:chExt cx="812800" cy="8128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C3C7BB"/>
              </a:solidFill>
            </p:spPr>
            <p:txBody>
              <a:bodyPr/>
              <a:lstStyle/>
              <a:p>
                <a:endParaRPr lang="en-PH"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/>
            <p:nvPr/>
          </p:nvGrpSpPr>
          <p:grpSpPr>
            <a:xfrm>
              <a:off x="800115" y="1404753"/>
              <a:ext cx="936485" cy="936485"/>
              <a:chOff x="0" y="0"/>
              <a:chExt cx="812800" cy="8128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3131"/>
              </a:solidFill>
            </p:spPr>
            <p:txBody>
              <a:bodyPr/>
              <a:lstStyle/>
              <a:p>
                <a:endParaRPr lang="en-PH"/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7" name="TextBox 17"/>
            <p:cNvSpPr txBox="1"/>
            <p:nvPr/>
          </p:nvSpPr>
          <p:spPr>
            <a:xfrm>
              <a:off x="162268" y="212460"/>
              <a:ext cx="975637" cy="4603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4"/>
                </a:lnSpc>
              </a:pPr>
              <a:r>
                <a:rPr lang="en-US" sz="2096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9001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5356764" y="3731887"/>
            <a:ext cx="1902536" cy="1902536"/>
            <a:chOff x="0" y="0"/>
            <a:chExt cx="812800" cy="8128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207532" y="0"/>
                  </a:moveTo>
                  <a:lnTo>
                    <a:pt x="605268" y="0"/>
                  </a:lnTo>
                  <a:cubicBezTo>
                    <a:pt x="719885" y="0"/>
                    <a:pt x="812800" y="92915"/>
                    <a:pt x="812800" y="207532"/>
                  </a:cubicBezTo>
                  <a:lnTo>
                    <a:pt x="812800" y="605268"/>
                  </a:lnTo>
                  <a:cubicBezTo>
                    <a:pt x="812800" y="719885"/>
                    <a:pt x="719885" y="812800"/>
                    <a:pt x="605268" y="812800"/>
                  </a:cubicBezTo>
                  <a:lnTo>
                    <a:pt x="207532" y="812800"/>
                  </a:lnTo>
                  <a:cubicBezTo>
                    <a:pt x="92915" y="812800"/>
                    <a:pt x="0" y="719885"/>
                    <a:pt x="0" y="605268"/>
                  </a:cubicBezTo>
                  <a:lnTo>
                    <a:pt x="0" y="207532"/>
                  </a:lnTo>
                  <a:cubicBezTo>
                    <a:pt x="0" y="92915"/>
                    <a:pt x="92915" y="0"/>
                    <a:pt x="20753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812800" cy="850900"/>
            </a:xfrm>
            <a:prstGeom prst="rect">
              <a:avLst/>
            </a:prstGeom>
          </p:spPr>
          <p:txBody>
            <a:bodyPr lIns="31317" tIns="31317" rIns="31317" bIns="31317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6403500" y="3885323"/>
            <a:ext cx="702364" cy="702364"/>
            <a:chOff x="0" y="0"/>
            <a:chExt cx="812800" cy="8128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3C7BB"/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31317" tIns="31317" rIns="31317" bIns="31317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5956850" y="4785452"/>
            <a:ext cx="702364" cy="702364"/>
            <a:chOff x="0" y="0"/>
            <a:chExt cx="812800" cy="8128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914D"/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31317" tIns="31317" rIns="31317" bIns="31317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15478465" y="3881707"/>
            <a:ext cx="731728" cy="3547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4"/>
              </a:lnSpc>
            </a:pPr>
            <a:r>
              <a:rPr lang="en-US" sz="2096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9002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15356764" y="5910648"/>
            <a:ext cx="1902536" cy="1902536"/>
            <a:chOff x="0" y="0"/>
            <a:chExt cx="812800" cy="8128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207532" y="0"/>
                  </a:moveTo>
                  <a:lnTo>
                    <a:pt x="605268" y="0"/>
                  </a:lnTo>
                  <a:cubicBezTo>
                    <a:pt x="719885" y="0"/>
                    <a:pt x="812800" y="92915"/>
                    <a:pt x="812800" y="207532"/>
                  </a:cubicBezTo>
                  <a:lnTo>
                    <a:pt x="812800" y="605268"/>
                  </a:lnTo>
                  <a:cubicBezTo>
                    <a:pt x="812800" y="719885"/>
                    <a:pt x="719885" y="812800"/>
                    <a:pt x="605268" y="812800"/>
                  </a:cubicBezTo>
                  <a:lnTo>
                    <a:pt x="207532" y="812800"/>
                  </a:lnTo>
                  <a:cubicBezTo>
                    <a:pt x="92915" y="812800"/>
                    <a:pt x="0" y="719885"/>
                    <a:pt x="0" y="605268"/>
                  </a:cubicBezTo>
                  <a:lnTo>
                    <a:pt x="0" y="207532"/>
                  </a:lnTo>
                  <a:cubicBezTo>
                    <a:pt x="0" y="92915"/>
                    <a:pt x="92915" y="0"/>
                    <a:pt x="20753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38100"/>
              <a:ext cx="812800" cy="850900"/>
            </a:xfrm>
            <a:prstGeom prst="rect">
              <a:avLst/>
            </a:prstGeom>
          </p:spPr>
          <p:txBody>
            <a:bodyPr lIns="31317" tIns="31317" rIns="31317" bIns="31317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6403500" y="6064084"/>
            <a:ext cx="702364" cy="702364"/>
            <a:chOff x="0" y="0"/>
            <a:chExt cx="812800" cy="8128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3C7BB"/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31317" tIns="31317" rIns="31317" bIns="31317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5956850" y="6964213"/>
            <a:ext cx="702364" cy="702364"/>
            <a:chOff x="0" y="0"/>
            <a:chExt cx="812800" cy="81280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31317" tIns="31317" rIns="31317" bIns="31317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15478465" y="6060468"/>
            <a:ext cx="731728" cy="3547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4"/>
              </a:lnSpc>
            </a:pPr>
            <a:r>
              <a:rPr lang="en-US" sz="2096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9003</a:t>
            </a:r>
          </a:p>
        </p:txBody>
      </p:sp>
      <p:grpSp>
        <p:nvGrpSpPr>
          <p:cNvPr id="38" name="Group 38"/>
          <p:cNvGrpSpPr/>
          <p:nvPr/>
        </p:nvGrpSpPr>
        <p:grpSpPr>
          <a:xfrm>
            <a:off x="15356764" y="8034730"/>
            <a:ext cx="1902536" cy="1902536"/>
            <a:chOff x="0" y="0"/>
            <a:chExt cx="812800" cy="81280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207532" y="0"/>
                  </a:moveTo>
                  <a:lnTo>
                    <a:pt x="605268" y="0"/>
                  </a:lnTo>
                  <a:cubicBezTo>
                    <a:pt x="719885" y="0"/>
                    <a:pt x="812800" y="92915"/>
                    <a:pt x="812800" y="207532"/>
                  </a:cubicBezTo>
                  <a:lnTo>
                    <a:pt x="812800" y="605268"/>
                  </a:lnTo>
                  <a:cubicBezTo>
                    <a:pt x="812800" y="719885"/>
                    <a:pt x="719885" y="812800"/>
                    <a:pt x="605268" y="812800"/>
                  </a:cubicBezTo>
                  <a:lnTo>
                    <a:pt x="207532" y="812800"/>
                  </a:lnTo>
                  <a:cubicBezTo>
                    <a:pt x="92915" y="812800"/>
                    <a:pt x="0" y="719885"/>
                    <a:pt x="0" y="605268"/>
                  </a:cubicBezTo>
                  <a:lnTo>
                    <a:pt x="0" y="207532"/>
                  </a:lnTo>
                  <a:cubicBezTo>
                    <a:pt x="0" y="92915"/>
                    <a:pt x="92915" y="0"/>
                    <a:pt x="20753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38100"/>
              <a:ext cx="812800" cy="850900"/>
            </a:xfrm>
            <a:prstGeom prst="rect">
              <a:avLst/>
            </a:prstGeom>
          </p:spPr>
          <p:txBody>
            <a:bodyPr lIns="31317" tIns="31317" rIns="31317" bIns="31317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16403500" y="8188166"/>
            <a:ext cx="702364" cy="702364"/>
            <a:chOff x="0" y="0"/>
            <a:chExt cx="812800" cy="8128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3C7BB"/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31317" tIns="31317" rIns="31317" bIns="31317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15956850" y="9088295"/>
            <a:ext cx="702364" cy="702364"/>
            <a:chOff x="0" y="0"/>
            <a:chExt cx="812800" cy="81280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5170FF"/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31317" tIns="31317" rIns="31317" bIns="31317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15478465" y="8184550"/>
            <a:ext cx="731728" cy="3547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4"/>
              </a:lnSpc>
            </a:pPr>
            <a:r>
              <a:rPr lang="en-US" sz="2096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9004</a:t>
            </a:r>
          </a:p>
        </p:txBody>
      </p:sp>
      <p:sp>
        <p:nvSpPr>
          <p:cNvPr id="48" name="AutoShape 48"/>
          <p:cNvSpPr/>
          <p:nvPr/>
        </p:nvSpPr>
        <p:spPr>
          <a:xfrm flipV="1">
            <a:off x="4525697" y="2687881"/>
            <a:ext cx="11271318" cy="1172799"/>
          </a:xfrm>
          <a:prstGeom prst="line">
            <a:avLst/>
          </a:prstGeom>
          <a:ln w="38100" cap="flat">
            <a:solidFill>
              <a:srgbClr val="FF3131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endParaRPr lang="en-PH"/>
          </a:p>
        </p:txBody>
      </p:sp>
      <p:sp>
        <p:nvSpPr>
          <p:cNvPr id="49" name="AutoShape 49"/>
          <p:cNvSpPr/>
          <p:nvPr/>
        </p:nvSpPr>
        <p:spPr>
          <a:xfrm flipV="1">
            <a:off x="4415083" y="5165919"/>
            <a:ext cx="11381931" cy="195386"/>
          </a:xfrm>
          <a:prstGeom prst="line">
            <a:avLst/>
          </a:prstGeom>
          <a:ln w="38100" cap="flat">
            <a:solidFill>
              <a:srgbClr val="FF751F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endParaRPr lang="en-PH"/>
          </a:p>
        </p:txBody>
      </p:sp>
      <p:sp>
        <p:nvSpPr>
          <p:cNvPr id="50" name="AutoShape 50"/>
          <p:cNvSpPr/>
          <p:nvPr/>
        </p:nvSpPr>
        <p:spPr>
          <a:xfrm>
            <a:off x="4581187" y="6964213"/>
            <a:ext cx="11215827" cy="300903"/>
          </a:xfrm>
          <a:prstGeom prst="line">
            <a:avLst/>
          </a:prstGeom>
          <a:ln w="38100" cap="flat">
            <a:solidFill>
              <a:srgbClr val="FFDE59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endParaRPr lang="en-PH"/>
          </a:p>
        </p:txBody>
      </p:sp>
      <p:sp>
        <p:nvSpPr>
          <p:cNvPr id="51" name="AutoShape 51"/>
          <p:cNvSpPr/>
          <p:nvPr/>
        </p:nvSpPr>
        <p:spPr>
          <a:xfrm>
            <a:off x="2684174" y="7813184"/>
            <a:ext cx="13112840" cy="1639620"/>
          </a:xfrm>
          <a:prstGeom prst="line">
            <a:avLst/>
          </a:prstGeom>
          <a:ln w="38100" cap="flat">
            <a:solidFill>
              <a:srgbClr val="5170FF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endParaRPr lang="en-PH"/>
          </a:p>
        </p:txBody>
      </p:sp>
      <p:grpSp>
        <p:nvGrpSpPr>
          <p:cNvPr id="52" name="Group 52"/>
          <p:cNvGrpSpPr/>
          <p:nvPr/>
        </p:nvGrpSpPr>
        <p:grpSpPr>
          <a:xfrm>
            <a:off x="930809" y="4118576"/>
            <a:ext cx="1792072" cy="1792072"/>
            <a:chOff x="0" y="0"/>
            <a:chExt cx="2389430" cy="2389430"/>
          </a:xfrm>
        </p:grpSpPr>
        <p:grpSp>
          <p:nvGrpSpPr>
            <p:cNvPr id="53" name="Group 53"/>
            <p:cNvGrpSpPr/>
            <p:nvPr/>
          </p:nvGrpSpPr>
          <p:grpSpPr>
            <a:xfrm>
              <a:off x="0" y="0"/>
              <a:ext cx="2389430" cy="2389430"/>
              <a:chOff x="0" y="0"/>
              <a:chExt cx="812800" cy="812800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C3C7BB"/>
              </a:solidFill>
            </p:spPr>
            <p:txBody>
              <a:bodyPr/>
              <a:lstStyle/>
              <a:p>
                <a:endParaRPr lang="en-PH"/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56" name="TextBox 56"/>
            <p:cNvSpPr txBox="1"/>
            <p:nvPr/>
          </p:nvSpPr>
          <p:spPr>
            <a:xfrm>
              <a:off x="157473" y="377146"/>
              <a:ext cx="2074484" cy="13245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037"/>
                </a:lnSpc>
              </a:pPr>
              <a:r>
                <a:rPr lang="en-US" sz="2883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server</a:t>
              </a:r>
            </a:p>
            <a:p>
              <a:pPr algn="ctr">
                <a:lnSpc>
                  <a:spcPts val="4037"/>
                </a:lnSpc>
              </a:pPr>
              <a:r>
                <a:rPr lang="en-US" sz="2883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socket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1583578" y="6527274"/>
            <a:ext cx="1139303" cy="1139303"/>
            <a:chOff x="0" y="0"/>
            <a:chExt cx="1519071" cy="1519071"/>
          </a:xfrm>
        </p:grpSpPr>
        <p:grpSp>
          <p:nvGrpSpPr>
            <p:cNvPr id="58" name="Group 58"/>
            <p:cNvGrpSpPr/>
            <p:nvPr/>
          </p:nvGrpSpPr>
          <p:grpSpPr>
            <a:xfrm>
              <a:off x="0" y="0"/>
              <a:ext cx="1519071" cy="1519071"/>
              <a:chOff x="0" y="0"/>
              <a:chExt cx="812800" cy="812800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170FF"/>
              </a:solidFill>
            </p:spPr>
            <p:txBody>
              <a:bodyPr/>
              <a:lstStyle/>
              <a:p>
                <a:endParaRPr lang="en-PH"/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61" name="TextBox 61"/>
            <p:cNvSpPr txBox="1"/>
            <p:nvPr/>
          </p:nvSpPr>
          <p:spPr>
            <a:xfrm>
              <a:off x="100113" y="247527"/>
              <a:ext cx="1318846" cy="83433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66"/>
                </a:lnSpc>
              </a:pPr>
              <a:r>
                <a:rPr lang="en-US" sz="1833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client</a:t>
              </a:r>
            </a:p>
            <a:p>
              <a:pPr algn="ctr">
                <a:lnSpc>
                  <a:spcPts val="2566"/>
                </a:lnSpc>
              </a:pPr>
              <a:r>
                <a:rPr lang="en-US" sz="1833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socket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3119571" y="6256917"/>
            <a:ext cx="1139303" cy="1139303"/>
            <a:chOff x="0" y="0"/>
            <a:chExt cx="1519071" cy="1519071"/>
          </a:xfrm>
        </p:grpSpPr>
        <p:grpSp>
          <p:nvGrpSpPr>
            <p:cNvPr id="63" name="Group 63"/>
            <p:cNvGrpSpPr/>
            <p:nvPr/>
          </p:nvGrpSpPr>
          <p:grpSpPr>
            <a:xfrm>
              <a:off x="0" y="0"/>
              <a:ext cx="1519071" cy="1519071"/>
              <a:chOff x="0" y="0"/>
              <a:chExt cx="812800" cy="812800"/>
            </a:xfrm>
          </p:grpSpPr>
          <p:sp>
            <p:nvSpPr>
              <p:cNvPr id="64" name="Freeform 6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DE59"/>
              </a:solidFill>
            </p:spPr>
            <p:txBody>
              <a:bodyPr/>
              <a:lstStyle/>
              <a:p>
                <a:endParaRPr lang="en-PH"/>
              </a:p>
            </p:txBody>
          </p:sp>
          <p:sp>
            <p:nvSpPr>
              <p:cNvPr id="65" name="TextBox 65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66" name="TextBox 66"/>
            <p:cNvSpPr txBox="1"/>
            <p:nvPr/>
          </p:nvSpPr>
          <p:spPr>
            <a:xfrm>
              <a:off x="100113" y="247527"/>
              <a:ext cx="1318846" cy="83433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66"/>
                </a:lnSpc>
              </a:pPr>
              <a:r>
                <a:rPr lang="en-US" sz="1833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client</a:t>
              </a:r>
            </a:p>
            <a:p>
              <a:pPr algn="ctr">
                <a:lnSpc>
                  <a:spcPts val="2566"/>
                </a:lnSpc>
              </a:pPr>
              <a:r>
                <a:rPr lang="en-US" sz="1833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socket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3119571" y="4683155"/>
            <a:ext cx="1139303" cy="1139303"/>
            <a:chOff x="0" y="0"/>
            <a:chExt cx="1519071" cy="1519071"/>
          </a:xfrm>
        </p:grpSpPr>
        <p:grpSp>
          <p:nvGrpSpPr>
            <p:cNvPr id="68" name="Group 68"/>
            <p:cNvGrpSpPr/>
            <p:nvPr/>
          </p:nvGrpSpPr>
          <p:grpSpPr>
            <a:xfrm>
              <a:off x="0" y="0"/>
              <a:ext cx="1519071" cy="1519071"/>
              <a:chOff x="0" y="0"/>
              <a:chExt cx="812800" cy="812800"/>
            </a:xfrm>
          </p:grpSpPr>
          <p:sp>
            <p:nvSpPr>
              <p:cNvPr id="69" name="Freeform 6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914D"/>
              </a:solidFill>
            </p:spPr>
            <p:txBody>
              <a:bodyPr/>
              <a:lstStyle/>
              <a:p>
                <a:endParaRPr lang="en-PH"/>
              </a:p>
            </p:txBody>
          </p:sp>
          <p:sp>
            <p:nvSpPr>
              <p:cNvPr id="70" name="TextBox 70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1" name="TextBox 71"/>
            <p:cNvSpPr txBox="1"/>
            <p:nvPr/>
          </p:nvSpPr>
          <p:spPr>
            <a:xfrm>
              <a:off x="100113" y="247527"/>
              <a:ext cx="1318846" cy="83433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66"/>
                </a:lnSpc>
              </a:pPr>
              <a:r>
                <a:rPr lang="en-US" sz="1833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client</a:t>
              </a:r>
            </a:p>
            <a:p>
              <a:pPr algn="ctr">
                <a:lnSpc>
                  <a:spcPts val="2566"/>
                </a:lnSpc>
              </a:pPr>
              <a:r>
                <a:rPr lang="en-US" sz="1833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socket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3275780" y="3162236"/>
            <a:ext cx="1139303" cy="1139303"/>
            <a:chOff x="0" y="0"/>
            <a:chExt cx="1519071" cy="1519071"/>
          </a:xfrm>
        </p:grpSpPr>
        <p:grpSp>
          <p:nvGrpSpPr>
            <p:cNvPr id="73" name="Group 73"/>
            <p:cNvGrpSpPr/>
            <p:nvPr/>
          </p:nvGrpSpPr>
          <p:grpSpPr>
            <a:xfrm>
              <a:off x="0" y="0"/>
              <a:ext cx="1519071" cy="1519071"/>
              <a:chOff x="0" y="0"/>
              <a:chExt cx="812800" cy="812800"/>
            </a:xfrm>
          </p:grpSpPr>
          <p:sp>
            <p:nvSpPr>
              <p:cNvPr id="74" name="Freeform 7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3131"/>
              </a:solidFill>
            </p:spPr>
            <p:txBody>
              <a:bodyPr/>
              <a:lstStyle/>
              <a:p>
                <a:endParaRPr lang="en-PH"/>
              </a:p>
            </p:txBody>
          </p:sp>
          <p:sp>
            <p:nvSpPr>
              <p:cNvPr id="75" name="TextBox 75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6" name="TextBox 76"/>
            <p:cNvSpPr txBox="1"/>
            <p:nvPr/>
          </p:nvSpPr>
          <p:spPr>
            <a:xfrm>
              <a:off x="100113" y="247527"/>
              <a:ext cx="1318846" cy="83433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66"/>
                </a:lnSpc>
              </a:pPr>
              <a:r>
                <a:rPr lang="en-US" sz="1833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client</a:t>
              </a:r>
            </a:p>
            <a:p>
              <a:pPr algn="ctr">
                <a:lnSpc>
                  <a:spcPts val="2566"/>
                </a:lnSpc>
              </a:pPr>
              <a:r>
                <a:rPr lang="en-US" sz="1833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socket</a:t>
              </a:r>
            </a:p>
          </p:txBody>
        </p:sp>
      </p:grpSp>
      <p:sp>
        <p:nvSpPr>
          <p:cNvPr id="77" name="TextBox 77"/>
          <p:cNvSpPr txBox="1"/>
          <p:nvPr/>
        </p:nvSpPr>
        <p:spPr>
          <a:xfrm>
            <a:off x="469851" y="8349055"/>
            <a:ext cx="4428647" cy="1554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0" lvl="1" indent="-194310" algn="l">
              <a:lnSpc>
                <a:spcPts val="2520"/>
              </a:lnSpc>
              <a:buAutoNum type="arabicPeriod"/>
            </a:pPr>
            <a:r>
              <a:rPr lang="en-US" sz="18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One server listening socket per port</a:t>
            </a:r>
          </a:p>
          <a:p>
            <a:pPr marL="388620" lvl="1" indent="-194310" algn="l">
              <a:lnSpc>
                <a:spcPts val="2520"/>
              </a:lnSpc>
              <a:buAutoNum type="arabicPeriod"/>
            </a:pPr>
            <a:r>
              <a:rPr lang="en-US" sz="18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Multiple client sockets (one per connection), each handled in its own thread.</a:t>
            </a:r>
          </a:p>
          <a:p>
            <a:pPr algn="l">
              <a:lnSpc>
                <a:spcPts val="2520"/>
              </a:lnSpc>
            </a:pPr>
            <a:endParaRPr lang="en-US" sz="18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526756" y="537527"/>
            <a:ext cx="8322608" cy="887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PEER &amp; PORT DISCOVERY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30492" y="2719706"/>
            <a:ext cx="9057569" cy="59810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Port Manager scans a fixed range (9000–9004).</a:t>
            </a:r>
          </a:p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First free port → reserved for the server socket.</a:t>
            </a:r>
          </a:p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To discover peers: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The app attempts to connect to other ports in the range.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If connection succeeds, it queries the peer for file lists.</a:t>
            </a:r>
          </a:p>
          <a:p>
            <a:pPr algn="l">
              <a:lnSpc>
                <a:spcPts val="4760"/>
              </a:lnSpc>
            </a:pPr>
            <a:endParaRPr lang="en-US" sz="34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8535551" y="2709790"/>
            <a:ext cx="8723749" cy="4291141"/>
          </a:xfrm>
          <a:custGeom>
            <a:avLst/>
            <a:gdLst/>
            <a:ahLst/>
            <a:cxnLst/>
            <a:rect l="l" t="t" r="r" b="b"/>
            <a:pathLst>
              <a:path w="8723749" h="4291141">
                <a:moveTo>
                  <a:pt x="0" y="0"/>
                </a:moveTo>
                <a:lnTo>
                  <a:pt x="8723749" y="0"/>
                </a:lnTo>
                <a:lnTo>
                  <a:pt x="8723749" y="4291142"/>
                </a:lnTo>
                <a:lnTo>
                  <a:pt x="0" y="429114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PH"/>
          </a:p>
        </p:txBody>
      </p:sp>
      <p:sp>
        <p:nvSpPr>
          <p:cNvPr id="3" name="TextBox 3"/>
          <p:cNvSpPr txBox="1"/>
          <p:nvPr/>
        </p:nvSpPr>
        <p:spPr>
          <a:xfrm>
            <a:off x="6519432" y="537527"/>
            <a:ext cx="8211994" cy="887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MENU OPTIONS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46832" y="1874672"/>
            <a:ext cx="9649602" cy="2980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60"/>
              </a:lnSpc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Option 1 - Download File</a:t>
            </a:r>
          </a:p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Discover files from peers</a:t>
            </a:r>
          </a:p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Select file by ID</a:t>
            </a:r>
          </a:p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Resolve live seeders</a:t>
            </a:r>
          </a:p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Start download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46832" y="5076825"/>
            <a:ext cx="9649602" cy="23806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60"/>
              </a:lnSpc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Option 2 - Download Status</a:t>
            </a:r>
          </a:p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Show progress</a:t>
            </a:r>
          </a:p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Refresh every seconds</a:t>
            </a:r>
          </a:p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Exit on key press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46832" y="7676514"/>
            <a:ext cx="9649602" cy="23806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60"/>
              </a:lnSpc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Option 3 - Exit</a:t>
            </a:r>
          </a:p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Stop server</a:t>
            </a:r>
          </a:p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Join threads</a:t>
            </a:r>
          </a:p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Release port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760749" y="4818412"/>
            <a:ext cx="6942940" cy="4897733"/>
          </a:xfrm>
          <a:custGeom>
            <a:avLst/>
            <a:gdLst/>
            <a:ahLst/>
            <a:cxnLst/>
            <a:rect l="l" t="t" r="r" b="b"/>
            <a:pathLst>
              <a:path w="6942940" h="4897733">
                <a:moveTo>
                  <a:pt x="0" y="0"/>
                </a:moveTo>
                <a:lnTo>
                  <a:pt x="6942940" y="0"/>
                </a:lnTo>
                <a:lnTo>
                  <a:pt x="6942940" y="4897733"/>
                </a:lnTo>
                <a:lnTo>
                  <a:pt x="0" y="489773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PH"/>
          </a:p>
        </p:txBody>
      </p:sp>
      <p:sp>
        <p:nvSpPr>
          <p:cNvPr id="3" name="Freeform 3"/>
          <p:cNvSpPr/>
          <p:nvPr/>
        </p:nvSpPr>
        <p:spPr>
          <a:xfrm>
            <a:off x="10760749" y="1603993"/>
            <a:ext cx="6774152" cy="3035049"/>
          </a:xfrm>
          <a:custGeom>
            <a:avLst/>
            <a:gdLst/>
            <a:ahLst/>
            <a:cxnLst/>
            <a:rect l="l" t="t" r="r" b="b"/>
            <a:pathLst>
              <a:path w="6774152" h="3035049">
                <a:moveTo>
                  <a:pt x="0" y="0"/>
                </a:moveTo>
                <a:lnTo>
                  <a:pt x="6774152" y="0"/>
                </a:lnTo>
                <a:lnTo>
                  <a:pt x="6774152" y="3035048"/>
                </a:lnTo>
                <a:lnTo>
                  <a:pt x="0" y="30350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PH"/>
          </a:p>
        </p:txBody>
      </p:sp>
      <p:sp>
        <p:nvSpPr>
          <p:cNvPr id="4" name="TextBox 4"/>
          <p:cNvSpPr txBox="1"/>
          <p:nvPr/>
        </p:nvSpPr>
        <p:spPr>
          <a:xfrm>
            <a:off x="6519432" y="537527"/>
            <a:ext cx="11419785" cy="887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FILE DISCOVERY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46832" y="2719706"/>
            <a:ext cx="9649602" cy="47809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60"/>
              </a:lnSpc>
            </a:pPr>
            <a:endParaRPr/>
          </a:p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Client connects to each peer</a:t>
            </a:r>
          </a:p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User sends choice 1 → list files</a:t>
            </a:r>
          </a:p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Parses filename\t&lt;size&gt; format</a:t>
            </a:r>
          </a:p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Deduplicates by file.key() (name+size)</a:t>
            </a:r>
          </a:p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Sort alphabetically</a:t>
            </a:r>
          </a:p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Builds network_file list </a:t>
            </a:r>
          </a:p>
          <a:p>
            <a:pPr algn="l">
              <a:lnSpc>
                <a:spcPts val="4760"/>
              </a:lnSpc>
            </a:pPr>
            <a:endParaRPr lang="en-US" sz="34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885703" y="6123488"/>
            <a:ext cx="6584213" cy="3778967"/>
          </a:xfrm>
          <a:custGeom>
            <a:avLst/>
            <a:gdLst/>
            <a:ahLst/>
            <a:cxnLst/>
            <a:rect l="l" t="t" r="r" b="b"/>
            <a:pathLst>
              <a:path w="6584213" h="3778967">
                <a:moveTo>
                  <a:pt x="0" y="0"/>
                </a:moveTo>
                <a:lnTo>
                  <a:pt x="6584213" y="0"/>
                </a:lnTo>
                <a:lnTo>
                  <a:pt x="6584213" y="3778967"/>
                </a:lnTo>
                <a:lnTo>
                  <a:pt x="0" y="377896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PH"/>
          </a:p>
        </p:txBody>
      </p:sp>
      <p:sp>
        <p:nvSpPr>
          <p:cNvPr id="3" name="Freeform 3"/>
          <p:cNvSpPr/>
          <p:nvPr/>
        </p:nvSpPr>
        <p:spPr>
          <a:xfrm>
            <a:off x="8878528" y="5858135"/>
            <a:ext cx="8751608" cy="3852748"/>
          </a:xfrm>
          <a:custGeom>
            <a:avLst/>
            <a:gdLst/>
            <a:ahLst/>
            <a:cxnLst/>
            <a:rect l="l" t="t" r="r" b="b"/>
            <a:pathLst>
              <a:path w="8751608" h="3852748">
                <a:moveTo>
                  <a:pt x="0" y="0"/>
                </a:moveTo>
                <a:lnTo>
                  <a:pt x="8751607" y="0"/>
                </a:lnTo>
                <a:lnTo>
                  <a:pt x="8751607" y="3852749"/>
                </a:lnTo>
                <a:lnTo>
                  <a:pt x="0" y="38527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PH"/>
          </a:p>
        </p:txBody>
      </p:sp>
      <p:sp>
        <p:nvSpPr>
          <p:cNvPr id="4" name="Freeform 4"/>
          <p:cNvSpPr/>
          <p:nvPr/>
        </p:nvSpPr>
        <p:spPr>
          <a:xfrm>
            <a:off x="8878528" y="1806004"/>
            <a:ext cx="8437796" cy="3670749"/>
          </a:xfrm>
          <a:custGeom>
            <a:avLst/>
            <a:gdLst/>
            <a:ahLst/>
            <a:cxnLst/>
            <a:rect l="l" t="t" r="r" b="b"/>
            <a:pathLst>
              <a:path w="8437796" h="3670749">
                <a:moveTo>
                  <a:pt x="0" y="0"/>
                </a:moveTo>
                <a:lnTo>
                  <a:pt x="8437795" y="0"/>
                </a:lnTo>
                <a:lnTo>
                  <a:pt x="8437795" y="3670749"/>
                </a:lnTo>
                <a:lnTo>
                  <a:pt x="0" y="367074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PH"/>
          </a:p>
        </p:txBody>
      </p:sp>
      <p:sp>
        <p:nvSpPr>
          <p:cNvPr id="5" name="TextBox 5"/>
          <p:cNvSpPr txBox="1"/>
          <p:nvPr/>
        </p:nvSpPr>
        <p:spPr>
          <a:xfrm>
            <a:off x="6519432" y="537527"/>
            <a:ext cx="11419785" cy="887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SEEDER RESOLVE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376881" y="2542724"/>
            <a:ext cx="9649602" cy="3580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Uses AppSeederResolver</a:t>
            </a:r>
          </a:p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Calls SeederProbe::probe():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Check connected ports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Verifies file presence</a:t>
            </a:r>
          </a:p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Return reachable seeders</a:t>
            </a:r>
          </a:p>
          <a:p>
            <a:pPr algn="l">
              <a:lnSpc>
                <a:spcPts val="4760"/>
              </a:lnSpc>
            </a:pPr>
            <a:endParaRPr lang="en-US" sz="34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803202" y="2005182"/>
            <a:ext cx="3617045" cy="962322"/>
            <a:chOff x="0" y="0"/>
            <a:chExt cx="952637" cy="25345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952637" cy="253451"/>
            </a:xfrm>
            <a:custGeom>
              <a:avLst/>
              <a:gdLst/>
              <a:ahLst/>
              <a:cxnLst/>
              <a:rect l="l" t="t" r="r" b="b"/>
              <a:pathLst>
                <a:path w="952637" h="253451">
                  <a:moveTo>
                    <a:pt x="109160" y="0"/>
                  </a:moveTo>
                  <a:lnTo>
                    <a:pt x="843477" y="0"/>
                  </a:lnTo>
                  <a:cubicBezTo>
                    <a:pt x="872428" y="0"/>
                    <a:pt x="900193" y="11501"/>
                    <a:pt x="920665" y="31972"/>
                  </a:cubicBezTo>
                  <a:cubicBezTo>
                    <a:pt x="941137" y="52444"/>
                    <a:pt x="952637" y="80209"/>
                    <a:pt x="952637" y="109160"/>
                  </a:cubicBezTo>
                  <a:lnTo>
                    <a:pt x="952637" y="144291"/>
                  </a:lnTo>
                  <a:cubicBezTo>
                    <a:pt x="952637" y="173242"/>
                    <a:pt x="941137" y="201007"/>
                    <a:pt x="920665" y="221479"/>
                  </a:cubicBezTo>
                  <a:cubicBezTo>
                    <a:pt x="900193" y="241950"/>
                    <a:pt x="872428" y="253451"/>
                    <a:pt x="843477" y="253451"/>
                  </a:cubicBezTo>
                  <a:lnTo>
                    <a:pt x="109160" y="253451"/>
                  </a:lnTo>
                  <a:cubicBezTo>
                    <a:pt x="80209" y="253451"/>
                    <a:pt x="52444" y="241950"/>
                    <a:pt x="31972" y="221479"/>
                  </a:cubicBezTo>
                  <a:cubicBezTo>
                    <a:pt x="11501" y="201007"/>
                    <a:pt x="0" y="173242"/>
                    <a:pt x="0" y="144291"/>
                  </a:cubicBezTo>
                  <a:lnTo>
                    <a:pt x="0" y="109160"/>
                  </a:lnTo>
                  <a:cubicBezTo>
                    <a:pt x="0" y="80209"/>
                    <a:pt x="11501" y="52444"/>
                    <a:pt x="31972" y="31972"/>
                  </a:cubicBezTo>
                  <a:cubicBezTo>
                    <a:pt x="52444" y="11501"/>
                    <a:pt x="80209" y="0"/>
                    <a:pt x="109160" y="0"/>
                  </a:cubicBezTo>
                  <a:close/>
                </a:path>
              </a:pathLst>
            </a:custGeom>
            <a:solidFill>
              <a:srgbClr val="AB7633"/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952637" cy="29155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r>
                <a:rPr lang="en-US" sz="1899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DOWNLOAD MANAGER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3133434" y="3263717"/>
            <a:ext cx="4125866" cy="962322"/>
            <a:chOff x="0" y="0"/>
            <a:chExt cx="1086648" cy="253451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086648" cy="253451"/>
            </a:xfrm>
            <a:custGeom>
              <a:avLst/>
              <a:gdLst/>
              <a:ahLst/>
              <a:cxnLst/>
              <a:rect l="l" t="t" r="r" b="b"/>
              <a:pathLst>
                <a:path w="1086648" h="253451">
                  <a:moveTo>
                    <a:pt x="95698" y="0"/>
                  </a:moveTo>
                  <a:lnTo>
                    <a:pt x="990950" y="0"/>
                  </a:lnTo>
                  <a:cubicBezTo>
                    <a:pt x="1043802" y="0"/>
                    <a:pt x="1086648" y="42846"/>
                    <a:pt x="1086648" y="95698"/>
                  </a:cubicBezTo>
                  <a:lnTo>
                    <a:pt x="1086648" y="157753"/>
                  </a:lnTo>
                  <a:cubicBezTo>
                    <a:pt x="1086648" y="210605"/>
                    <a:pt x="1043802" y="253451"/>
                    <a:pt x="990950" y="253451"/>
                  </a:cubicBezTo>
                  <a:lnTo>
                    <a:pt x="95698" y="253451"/>
                  </a:lnTo>
                  <a:cubicBezTo>
                    <a:pt x="42846" y="253451"/>
                    <a:pt x="0" y="210605"/>
                    <a:pt x="0" y="157753"/>
                  </a:cubicBezTo>
                  <a:lnTo>
                    <a:pt x="0" y="95698"/>
                  </a:lnTo>
                  <a:cubicBezTo>
                    <a:pt x="0" y="42846"/>
                    <a:pt x="42846" y="0"/>
                    <a:pt x="95698" y="0"/>
                  </a:cubicBezTo>
                  <a:close/>
                </a:path>
              </a:pathLst>
            </a:custGeom>
            <a:solidFill>
              <a:srgbClr val="FF3131"/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1086648" cy="29155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r>
                <a:rPr lang="en-US" sz="1899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WORKER THREAD (SEEDER A)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987810" y="5143500"/>
            <a:ext cx="4125866" cy="962322"/>
            <a:chOff x="0" y="0"/>
            <a:chExt cx="1086648" cy="253451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86648" cy="253451"/>
            </a:xfrm>
            <a:custGeom>
              <a:avLst/>
              <a:gdLst/>
              <a:ahLst/>
              <a:cxnLst/>
              <a:rect l="l" t="t" r="r" b="b"/>
              <a:pathLst>
                <a:path w="1086648" h="253451">
                  <a:moveTo>
                    <a:pt x="95698" y="0"/>
                  </a:moveTo>
                  <a:lnTo>
                    <a:pt x="990950" y="0"/>
                  </a:lnTo>
                  <a:cubicBezTo>
                    <a:pt x="1043802" y="0"/>
                    <a:pt x="1086648" y="42846"/>
                    <a:pt x="1086648" y="95698"/>
                  </a:cubicBezTo>
                  <a:lnTo>
                    <a:pt x="1086648" y="157753"/>
                  </a:lnTo>
                  <a:cubicBezTo>
                    <a:pt x="1086648" y="210605"/>
                    <a:pt x="1043802" y="253451"/>
                    <a:pt x="990950" y="253451"/>
                  </a:cubicBezTo>
                  <a:lnTo>
                    <a:pt x="95698" y="253451"/>
                  </a:lnTo>
                  <a:cubicBezTo>
                    <a:pt x="42846" y="253451"/>
                    <a:pt x="0" y="210605"/>
                    <a:pt x="0" y="157753"/>
                  </a:cubicBezTo>
                  <a:lnTo>
                    <a:pt x="0" y="95698"/>
                  </a:lnTo>
                  <a:cubicBezTo>
                    <a:pt x="0" y="42846"/>
                    <a:pt x="42846" y="0"/>
                    <a:pt x="95698" y="0"/>
                  </a:cubicBezTo>
                  <a:close/>
                </a:path>
              </a:pathLst>
            </a:custGeom>
            <a:solidFill>
              <a:srgbClr val="FF914D"/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1086648" cy="29155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r>
                <a:rPr lang="en-US" sz="1899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WORKER THREAD (SEEDER B)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3133434" y="6822366"/>
            <a:ext cx="4125866" cy="962322"/>
            <a:chOff x="0" y="0"/>
            <a:chExt cx="1086648" cy="253451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086648" cy="253451"/>
            </a:xfrm>
            <a:custGeom>
              <a:avLst/>
              <a:gdLst/>
              <a:ahLst/>
              <a:cxnLst/>
              <a:rect l="l" t="t" r="r" b="b"/>
              <a:pathLst>
                <a:path w="1086648" h="253451">
                  <a:moveTo>
                    <a:pt x="95698" y="0"/>
                  </a:moveTo>
                  <a:lnTo>
                    <a:pt x="990950" y="0"/>
                  </a:lnTo>
                  <a:cubicBezTo>
                    <a:pt x="1043802" y="0"/>
                    <a:pt x="1086648" y="42846"/>
                    <a:pt x="1086648" y="95698"/>
                  </a:cubicBezTo>
                  <a:lnTo>
                    <a:pt x="1086648" y="157753"/>
                  </a:lnTo>
                  <a:cubicBezTo>
                    <a:pt x="1086648" y="210605"/>
                    <a:pt x="1043802" y="253451"/>
                    <a:pt x="990950" y="253451"/>
                  </a:cubicBezTo>
                  <a:lnTo>
                    <a:pt x="95698" y="253451"/>
                  </a:lnTo>
                  <a:cubicBezTo>
                    <a:pt x="42846" y="253451"/>
                    <a:pt x="0" y="210605"/>
                    <a:pt x="0" y="157753"/>
                  </a:cubicBezTo>
                  <a:lnTo>
                    <a:pt x="0" y="95698"/>
                  </a:lnTo>
                  <a:cubicBezTo>
                    <a:pt x="0" y="42846"/>
                    <a:pt x="42846" y="0"/>
                    <a:pt x="95698" y="0"/>
                  </a:cubicBezTo>
                  <a:close/>
                </a:path>
              </a:pathLst>
            </a:custGeom>
            <a:solidFill>
              <a:srgbClr val="5170FF"/>
            </a:solidFill>
          </p:spPr>
          <p:txBody>
            <a:bodyPr/>
            <a:lstStyle/>
            <a:p>
              <a:endParaRPr lang="en-PH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1086648" cy="29155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r>
                <a:rPr lang="en-US" sz="1899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WORKER THREAD (SEEDER B)</a:t>
              </a:r>
            </a:p>
          </p:txBody>
        </p:sp>
      </p:grpSp>
      <p:sp>
        <p:nvSpPr>
          <p:cNvPr id="14" name="AutoShape 14"/>
          <p:cNvSpPr/>
          <p:nvPr/>
        </p:nvSpPr>
        <p:spPr>
          <a:xfrm>
            <a:off x="11795760" y="2986554"/>
            <a:ext cx="307" cy="431697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PH"/>
          </a:p>
        </p:txBody>
      </p:sp>
      <p:sp>
        <p:nvSpPr>
          <p:cNvPr id="15" name="AutoShape 15"/>
          <p:cNvSpPr/>
          <p:nvPr/>
        </p:nvSpPr>
        <p:spPr>
          <a:xfrm>
            <a:off x="11804623" y="3744878"/>
            <a:ext cx="132881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en-PH"/>
          </a:p>
        </p:txBody>
      </p:sp>
      <p:sp>
        <p:nvSpPr>
          <p:cNvPr id="16" name="AutoShape 16"/>
          <p:cNvSpPr/>
          <p:nvPr/>
        </p:nvSpPr>
        <p:spPr>
          <a:xfrm flipV="1">
            <a:off x="11804623" y="5605611"/>
            <a:ext cx="1183187" cy="190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en-PH"/>
          </a:p>
        </p:txBody>
      </p:sp>
      <p:sp>
        <p:nvSpPr>
          <p:cNvPr id="17" name="AutoShape 17"/>
          <p:cNvSpPr/>
          <p:nvPr/>
        </p:nvSpPr>
        <p:spPr>
          <a:xfrm flipV="1">
            <a:off x="11796067" y="7265429"/>
            <a:ext cx="1183187" cy="190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en-PH"/>
          </a:p>
        </p:txBody>
      </p:sp>
      <p:sp>
        <p:nvSpPr>
          <p:cNvPr id="18" name="Freeform 18"/>
          <p:cNvSpPr/>
          <p:nvPr/>
        </p:nvSpPr>
        <p:spPr>
          <a:xfrm>
            <a:off x="1028700" y="1394777"/>
            <a:ext cx="8460052" cy="1971274"/>
          </a:xfrm>
          <a:custGeom>
            <a:avLst/>
            <a:gdLst/>
            <a:ahLst/>
            <a:cxnLst/>
            <a:rect l="l" t="t" r="r" b="b"/>
            <a:pathLst>
              <a:path w="8460052" h="1971274">
                <a:moveTo>
                  <a:pt x="0" y="0"/>
                </a:moveTo>
                <a:lnTo>
                  <a:pt x="8460052" y="0"/>
                </a:lnTo>
                <a:lnTo>
                  <a:pt x="8460052" y="1971274"/>
                </a:lnTo>
                <a:lnTo>
                  <a:pt x="0" y="19712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PH"/>
          </a:p>
        </p:txBody>
      </p:sp>
      <p:sp>
        <p:nvSpPr>
          <p:cNvPr id="19" name="TextBox 19"/>
          <p:cNvSpPr txBox="1"/>
          <p:nvPr/>
        </p:nvSpPr>
        <p:spPr>
          <a:xfrm>
            <a:off x="721520" y="3552805"/>
            <a:ext cx="9074412" cy="65811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Download Manager spawns one worker thread per seeder.</a:t>
            </a:r>
          </a:p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Each worker independently: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Claims chunks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Fetches them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Writes them</a:t>
            </a:r>
          </a:p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When all chunks are done: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Last worker renames .part → final file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Job marked Completed</a:t>
            </a:r>
          </a:p>
          <a:p>
            <a:pPr algn="l">
              <a:lnSpc>
                <a:spcPts val="4760"/>
              </a:lnSpc>
            </a:pPr>
            <a:endParaRPr lang="en-US" sz="34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6664021" y="537527"/>
            <a:ext cx="8278362" cy="887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DOWNLOADS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2583778" y="4337424"/>
            <a:ext cx="5225177" cy="6565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claim_chunk → download → write → mark done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  <a:endParaRPr lang="en-US" sz="189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12583778" y="6220122"/>
            <a:ext cx="5225177" cy="6565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claim_chunk → download → write → mark done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  <a:endParaRPr lang="en-US" sz="189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12611724" y="8041862"/>
            <a:ext cx="5225177" cy="6565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claim_chunk → download → write → mark done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  <a:endParaRPr lang="en-US" sz="189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04819" y="338403"/>
            <a:ext cx="8278362" cy="887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DOWNLOADING MODEL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847240" y="1736085"/>
            <a:ext cx="14206877" cy="71812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File split into chunks (default 32 bytes).</a:t>
            </a:r>
          </a:p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Each worker thread: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Connects to a seeder via client socket  repeatedly.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Calls claim_chunk_static(job):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Iterates over all chunks.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Atomically marks the first available chunk (state = 0 → 1).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Returns that chunk index.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Requests chunks (Downloader::fetch_chunk_on_connection).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Downloads the chunk from its seeder.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Writes them into .part file.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Marks chunk as completed (state = 2).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951882" y="338403"/>
            <a:ext cx="8278362" cy="887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WORKERS MODEL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040562" y="3085569"/>
            <a:ext cx="14206877" cy="65811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Workers race to claim the next available chunk.</a:t>
            </a:r>
          </a:p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The first thread that successfully flips a chunk’s state gets it.</a:t>
            </a:r>
          </a:p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Multiple workers can download different chunks simultaneously.</a:t>
            </a:r>
          </a:p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Any worker can claim any free chunk, no strict ordering.</a:t>
            </a:r>
          </a:p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If a worker fails, its chunk is reset to 0 (unclaimed) so another worker can retry.</a:t>
            </a:r>
          </a:p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Dynamic load balancing: Faster seeders naturally complete more chunks because they claim more often.</a:t>
            </a:r>
          </a:p>
          <a:p>
            <a:pPr algn="l">
              <a:lnSpc>
                <a:spcPts val="4760"/>
              </a:lnSpc>
            </a:pPr>
            <a:endParaRPr lang="en-US" sz="34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2922827" y="1309342"/>
            <a:ext cx="14336473" cy="887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(Work‑stealing / atomic claim scheduler)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009481" y="1966530"/>
            <a:ext cx="11264559" cy="56941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59"/>
              </a:lnSpc>
            </a:pPr>
            <a:r>
              <a:rPr lang="en-US" sz="6399" b="1" i="1" dirty="0">
                <a:solidFill>
                  <a:srgbClr val="000000"/>
                </a:solidFill>
                <a:latin typeface="Canva Sans Bold Italics"/>
                <a:ea typeface="Canva Sans Bold Italics"/>
                <a:cs typeface="Canva Sans Bold Italics"/>
                <a:sym typeface="Canva Sans Bold Italics"/>
              </a:rPr>
              <a:t>How to make sure that while downloading we are connected to ports that have just connected recently?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929760" y="537527"/>
            <a:ext cx="8278362" cy="887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TICK THREAD LOGIC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708721" y="2399766"/>
            <a:ext cx="14206877" cy="3580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Runs every 2 seconds</a:t>
            </a:r>
          </a:p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Refreshes stalled downloads</a:t>
            </a:r>
          </a:p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Uses resolver (seeder probe) to find new seeders</a:t>
            </a:r>
          </a:p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Spawns new workers if needed especially for cases of those disconnected seeders while downloading</a:t>
            </a:r>
          </a:p>
          <a:p>
            <a:pPr algn="l">
              <a:lnSpc>
                <a:spcPts val="4760"/>
              </a:lnSpc>
            </a:pPr>
            <a:endParaRPr lang="en-US" sz="34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889993" y="367826"/>
            <a:ext cx="11773748" cy="18110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DOWNLOAD COMPLETION </a:t>
            </a:r>
          </a:p>
          <a:p>
            <a:pPr algn="l">
              <a:lnSpc>
                <a:spcPts val="7279"/>
              </a:lnSpc>
            </a:pPr>
            <a:endParaRPr lang="en-US" sz="5199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2040562" y="2112171"/>
            <a:ext cx="14206877" cy="53809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Workers exit when done</a:t>
            </a:r>
          </a:p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Final worker renames .part → final file</a:t>
            </a:r>
          </a:p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Updates status: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Idle 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Downloading 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Completed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Failed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Stalled</a:t>
            </a:r>
          </a:p>
          <a:p>
            <a:pPr algn="l">
              <a:lnSpc>
                <a:spcPts val="4760"/>
              </a:lnSpc>
            </a:pPr>
            <a:endParaRPr lang="en-US" sz="34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889993" y="5948274"/>
            <a:ext cx="7904181" cy="3537535"/>
          </a:xfrm>
          <a:custGeom>
            <a:avLst/>
            <a:gdLst/>
            <a:ahLst/>
            <a:cxnLst/>
            <a:rect l="l" t="t" r="r" b="b"/>
            <a:pathLst>
              <a:path w="7904181" h="3537535">
                <a:moveTo>
                  <a:pt x="0" y="0"/>
                </a:moveTo>
                <a:lnTo>
                  <a:pt x="7904181" y="0"/>
                </a:lnTo>
                <a:lnTo>
                  <a:pt x="7904181" y="3537536"/>
                </a:lnTo>
                <a:lnTo>
                  <a:pt x="0" y="35375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PH"/>
          </a:p>
        </p:txBody>
      </p:sp>
      <p:sp>
        <p:nvSpPr>
          <p:cNvPr id="3" name="TextBox 3"/>
          <p:cNvSpPr txBox="1"/>
          <p:nvPr/>
        </p:nvSpPr>
        <p:spPr>
          <a:xfrm>
            <a:off x="4889993" y="367826"/>
            <a:ext cx="11773748" cy="18110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DOWNLOAD STATUS</a:t>
            </a:r>
          </a:p>
          <a:p>
            <a:pPr algn="l">
              <a:lnSpc>
                <a:spcPts val="7279"/>
              </a:lnSpc>
            </a:pPr>
            <a:endParaRPr lang="en-US" sz="5199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443249" y="2112171"/>
            <a:ext cx="14206877" cy="3580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IDLE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active download is happening.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Either waiting for a job to start or no jobs exist.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Rarely used in your flow since jobs usually start directly as Downloading.</a:t>
            </a:r>
          </a:p>
          <a:p>
            <a:pPr algn="l">
              <a:lnSpc>
                <a:spcPts val="4760"/>
              </a:lnSpc>
            </a:pPr>
            <a:endParaRPr lang="en-US" sz="34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443249" y="2112171"/>
            <a:ext cx="16308532" cy="2980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Downloading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Active worker threads are fetching chunks from seeders.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Chunks are being claimed, downloaded, and written into the .part file.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This is the “normal running” state.</a:t>
            </a:r>
          </a:p>
          <a:p>
            <a:pPr algn="l">
              <a:lnSpc>
                <a:spcPts val="4760"/>
              </a:lnSpc>
            </a:pPr>
            <a:endParaRPr lang="en-US" sz="34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3" name="Freeform 3"/>
          <p:cNvSpPr/>
          <p:nvPr/>
        </p:nvSpPr>
        <p:spPr>
          <a:xfrm>
            <a:off x="2409004" y="5600839"/>
            <a:ext cx="13103740" cy="1166011"/>
          </a:xfrm>
          <a:custGeom>
            <a:avLst/>
            <a:gdLst/>
            <a:ahLst/>
            <a:cxnLst/>
            <a:rect l="l" t="t" r="r" b="b"/>
            <a:pathLst>
              <a:path w="13103740" h="1166011">
                <a:moveTo>
                  <a:pt x="0" y="0"/>
                </a:moveTo>
                <a:lnTo>
                  <a:pt x="13103740" y="0"/>
                </a:lnTo>
                <a:lnTo>
                  <a:pt x="13103740" y="1166011"/>
                </a:lnTo>
                <a:lnTo>
                  <a:pt x="0" y="116601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PH"/>
          </a:p>
        </p:txBody>
      </p:sp>
      <p:sp>
        <p:nvSpPr>
          <p:cNvPr id="4" name="TextBox 4"/>
          <p:cNvSpPr txBox="1"/>
          <p:nvPr/>
        </p:nvSpPr>
        <p:spPr>
          <a:xfrm>
            <a:off x="4889993" y="367826"/>
            <a:ext cx="11773748" cy="18110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DOWNLOAD STATUS</a:t>
            </a:r>
          </a:p>
          <a:p>
            <a:pPr algn="l">
              <a:lnSpc>
                <a:spcPts val="7279"/>
              </a:lnSpc>
            </a:pPr>
            <a:endParaRPr lang="en-US" sz="5199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443249" y="2112171"/>
            <a:ext cx="16308532" cy="3580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Completed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All chunks have been successfully downloaded.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The .part file is renamed to the final file.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Job marked as finished, no more worker threads running.</a:t>
            </a:r>
          </a:p>
          <a:p>
            <a:pPr algn="l">
              <a:lnSpc>
                <a:spcPts val="4760"/>
              </a:lnSpc>
            </a:pPr>
            <a:endParaRPr lang="en-US" sz="34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l">
              <a:lnSpc>
                <a:spcPts val="4760"/>
              </a:lnSpc>
            </a:pPr>
            <a:endParaRPr lang="en-US" sz="34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3" name="Freeform 3"/>
          <p:cNvSpPr/>
          <p:nvPr/>
        </p:nvSpPr>
        <p:spPr>
          <a:xfrm>
            <a:off x="1443249" y="5456664"/>
            <a:ext cx="14167403" cy="655634"/>
          </a:xfrm>
          <a:custGeom>
            <a:avLst/>
            <a:gdLst/>
            <a:ahLst/>
            <a:cxnLst/>
            <a:rect l="l" t="t" r="r" b="b"/>
            <a:pathLst>
              <a:path w="14167403" h="655634">
                <a:moveTo>
                  <a:pt x="0" y="0"/>
                </a:moveTo>
                <a:lnTo>
                  <a:pt x="14167403" y="0"/>
                </a:lnTo>
                <a:lnTo>
                  <a:pt x="14167403" y="655634"/>
                </a:lnTo>
                <a:lnTo>
                  <a:pt x="0" y="6556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PH"/>
          </a:p>
        </p:txBody>
      </p:sp>
      <p:sp>
        <p:nvSpPr>
          <p:cNvPr id="4" name="TextBox 4"/>
          <p:cNvSpPr txBox="1"/>
          <p:nvPr/>
        </p:nvSpPr>
        <p:spPr>
          <a:xfrm>
            <a:off x="4889993" y="367826"/>
            <a:ext cx="11773748" cy="18110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DOWNLOAD STATUS</a:t>
            </a:r>
          </a:p>
          <a:p>
            <a:pPr algn="l">
              <a:lnSpc>
                <a:spcPts val="7279"/>
              </a:lnSpc>
            </a:pPr>
            <a:endParaRPr lang="en-US" sz="5199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443249" y="2112171"/>
            <a:ext cx="14936925" cy="53809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Stalled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Download progress has stopped (no seeders available, workers exited without completing).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Not failed yet — system will try to recover by refreshing seeders in the tick thread.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Acts as a “pause” state until new seeders are found.</a:t>
            </a:r>
          </a:p>
          <a:p>
            <a:pPr algn="l">
              <a:lnSpc>
                <a:spcPts val="4760"/>
              </a:lnSpc>
            </a:pPr>
            <a:endParaRPr lang="en-US" sz="34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l">
              <a:lnSpc>
                <a:spcPts val="4760"/>
              </a:lnSpc>
            </a:pPr>
            <a:endParaRPr lang="en-US" sz="34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l">
              <a:lnSpc>
                <a:spcPts val="4760"/>
              </a:lnSpc>
            </a:pPr>
            <a:endParaRPr lang="en-US" sz="34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3" name="Freeform 3"/>
          <p:cNvSpPr/>
          <p:nvPr/>
        </p:nvSpPr>
        <p:spPr>
          <a:xfrm>
            <a:off x="1783959" y="6417729"/>
            <a:ext cx="15262587" cy="849975"/>
          </a:xfrm>
          <a:custGeom>
            <a:avLst/>
            <a:gdLst/>
            <a:ahLst/>
            <a:cxnLst/>
            <a:rect l="l" t="t" r="r" b="b"/>
            <a:pathLst>
              <a:path w="15262587" h="849975">
                <a:moveTo>
                  <a:pt x="0" y="0"/>
                </a:moveTo>
                <a:lnTo>
                  <a:pt x="15262586" y="0"/>
                </a:lnTo>
                <a:lnTo>
                  <a:pt x="15262586" y="849974"/>
                </a:lnTo>
                <a:lnTo>
                  <a:pt x="0" y="8499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PH"/>
          </a:p>
        </p:txBody>
      </p:sp>
      <p:sp>
        <p:nvSpPr>
          <p:cNvPr id="4" name="TextBox 4"/>
          <p:cNvSpPr txBox="1"/>
          <p:nvPr/>
        </p:nvSpPr>
        <p:spPr>
          <a:xfrm>
            <a:off x="4889993" y="367826"/>
            <a:ext cx="11773748" cy="18110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DOWNLOAD STATUS</a:t>
            </a:r>
          </a:p>
          <a:p>
            <a:pPr algn="l">
              <a:lnSpc>
                <a:spcPts val="7279"/>
              </a:lnSpc>
            </a:pPr>
            <a:endParaRPr lang="en-US" sz="5199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443249" y="2112171"/>
            <a:ext cx="14936925" cy="53809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Stalled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Download progress has stopped (no seeders available, workers exited without completing).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Not failed yet — system will try to recover by refreshing seeders in the tick thread.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Acts as a “pause” state until new seeders are found.</a:t>
            </a:r>
          </a:p>
          <a:p>
            <a:pPr algn="l">
              <a:lnSpc>
                <a:spcPts val="4760"/>
              </a:lnSpc>
            </a:pPr>
            <a:endParaRPr lang="en-US" sz="34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l">
              <a:lnSpc>
                <a:spcPts val="4760"/>
              </a:lnSpc>
            </a:pPr>
            <a:endParaRPr lang="en-US" sz="34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l">
              <a:lnSpc>
                <a:spcPts val="4760"/>
              </a:lnSpc>
            </a:pPr>
            <a:endParaRPr lang="en-US" sz="34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3" name="Freeform 3"/>
          <p:cNvSpPr/>
          <p:nvPr/>
        </p:nvSpPr>
        <p:spPr>
          <a:xfrm>
            <a:off x="1783959" y="6417729"/>
            <a:ext cx="15262587" cy="849975"/>
          </a:xfrm>
          <a:custGeom>
            <a:avLst/>
            <a:gdLst/>
            <a:ahLst/>
            <a:cxnLst/>
            <a:rect l="l" t="t" r="r" b="b"/>
            <a:pathLst>
              <a:path w="15262587" h="849975">
                <a:moveTo>
                  <a:pt x="0" y="0"/>
                </a:moveTo>
                <a:lnTo>
                  <a:pt x="15262586" y="0"/>
                </a:lnTo>
                <a:lnTo>
                  <a:pt x="15262586" y="849974"/>
                </a:lnTo>
                <a:lnTo>
                  <a:pt x="0" y="8499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PH"/>
          </a:p>
        </p:txBody>
      </p:sp>
      <p:sp>
        <p:nvSpPr>
          <p:cNvPr id="4" name="TextBox 4"/>
          <p:cNvSpPr txBox="1"/>
          <p:nvPr/>
        </p:nvSpPr>
        <p:spPr>
          <a:xfrm>
            <a:off x="4889993" y="367826"/>
            <a:ext cx="11773748" cy="18110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DOWNLOAD STATUS</a:t>
            </a:r>
          </a:p>
          <a:p>
            <a:pPr algn="l">
              <a:lnSpc>
                <a:spcPts val="7279"/>
              </a:lnSpc>
            </a:pPr>
            <a:endParaRPr lang="en-US" sz="5199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443249" y="2112171"/>
            <a:ext cx="14936925" cy="47809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Failed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The source file on the seeder was deleted or moved.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The output file cannot be created or written to (disk full, permission denied).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Protocol violation (wrong chunk size, invalid offset).</a:t>
            </a:r>
          </a:p>
          <a:p>
            <a:pPr algn="l">
              <a:lnSpc>
                <a:spcPts val="4760"/>
              </a:lnSpc>
            </a:pPr>
            <a:endParaRPr lang="en-US" sz="34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l">
              <a:lnSpc>
                <a:spcPts val="4760"/>
              </a:lnSpc>
            </a:pPr>
            <a:endParaRPr lang="en-US" sz="34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l">
              <a:lnSpc>
                <a:spcPts val="4760"/>
              </a:lnSpc>
            </a:pPr>
            <a:endParaRPr lang="en-US" sz="34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4889993" y="367826"/>
            <a:ext cx="11773748" cy="18110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DOWNLOAD STATUS</a:t>
            </a:r>
          </a:p>
          <a:p>
            <a:pPr algn="l">
              <a:lnSpc>
                <a:spcPts val="7279"/>
              </a:lnSpc>
            </a:pPr>
            <a:endParaRPr lang="en-US" sz="5199" b="1" dirty="0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566839" y="279335"/>
            <a:ext cx="11773748" cy="887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CLEAN UP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571506" y="2466134"/>
            <a:ext cx="14206877" cy="3580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34069" lvl="1" indent="-367035" algn="l">
              <a:lnSpc>
                <a:spcPts val="4760"/>
              </a:lnSpc>
              <a:buFont typeface="Arial"/>
              <a:buChar char="•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On exit: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Cancels jobs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Joins threads</a:t>
            </a:r>
          </a:p>
          <a:p>
            <a:pPr marL="1468138" lvl="2" indent="-489379" algn="l">
              <a:lnSpc>
                <a:spcPts val="4760"/>
              </a:lnSpc>
              <a:buFont typeface="Arial"/>
              <a:buChar char="⚬"/>
            </a:pPr>
            <a:r>
              <a:rPr lang="en-US" sz="34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Releases port</a:t>
            </a:r>
          </a:p>
          <a:p>
            <a:pPr algn="l">
              <a:lnSpc>
                <a:spcPts val="4760"/>
              </a:lnSpc>
            </a:pPr>
            <a:endParaRPr lang="en-US" sz="34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l">
              <a:lnSpc>
                <a:spcPts val="4760"/>
              </a:lnSpc>
            </a:pPr>
            <a:endParaRPr lang="en-US" sz="34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F6B29-1092-BCDE-9D37-D46DA9A8D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B68208C3-333C-D0F1-EE05-E1F2E7AF83F1}"/>
              </a:ext>
            </a:extLst>
          </p:cNvPr>
          <p:cNvSpPr txBox="1"/>
          <p:nvPr/>
        </p:nvSpPr>
        <p:spPr>
          <a:xfrm>
            <a:off x="6172200" y="495300"/>
            <a:ext cx="11773748" cy="887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CLASS DIAGRAM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417F87-7D04-0F30-FD45-16E2AC612CA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5100" y="1382395"/>
            <a:ext cx="12877800" cy="8517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15447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94D2594-1E81-6557-65BB-15CD60E448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1485900"/>
            <a:ext cx="8189366" cy="82977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9A5D554-397A-0DA3-CC68-728900BAFE27}"/>
              </a:ext>
            </a:extLst>
          </p:cNvPr>
          <p:cNvSpPr txBox="1"/>
          <p:nvPr/>
        </p:nvSpPr>
        <p:spPr>
          <a:xfrm>
            <a:off x="5638800" y="342900"/>
            <a:ext cx="11773748" cy="884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7279"/>
              </a:lnSpc>
            </a:pPr>
            <a:r>
              <a:rPr lang="en-PH" sz="5400" dirty="0"/>
              <a:t>User Starts the App</a:t>
            </a:r>
            <a:endParaRPr lang="en-US" sz="5199" b="1" dirty="0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</p:spTree>
    <p:extLst>
      <p:ext uri="{BB962C8B-B14F-4D97-AF65-F5344CB8AC3E}">
        <p14:creationId xmlns:p14="http://schemas.microsoft.com/office/powerpoint/2010/main" val="5766412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E1C00-932A-4DCD-327A-27552CFED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961422F-ED89-15F5-B1F5-2FBCAFEE239F}"/>
              </a:ext>
            </a:extLst>
          </p:cNvPr>
          <p:cNvSpPr txBox="1"/>
          <p:nvPr/>
        </p:nvSpPr>
        <p:spPr>
          <a:xfrm>
            <a:off x="5638800" y="342900"/>
            <a:ext cx="11773748" cy="884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7279"/>
              </a:lnSpc>
            </a:pPr>
            <a:r>
              <a:rPr lang="en-PH" sz="5400" dirty="0"/>
              <a:t>Port Manager</a:t>
            </a:r>
            <a:endParaRPr lang="en-US" sz="5199" b="1" dirty="0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1628EC-70F6-43EA-D1CE-EE84328E32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1638300"/>
            <a:ext cx="8077200" cy="807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4377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BDBFD-6310-02C4-DEE8-5EE6E3C46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F8BA9BC-FBCE-B65D-C41D-52F248552A9F}"/>
              </a:ext>
            </a:extLst>
          </p:cNvPr>
          <p:cNvSpPr txBox="1"/>
          <p:nvPr/>
        </p:nvSpPr>
        <p:spPr>
          <a:xfrm>
            <a:off x="5638800" y="342900"/>
            <a:ext cx="11773748" cy="884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7279"/>
              </a:lnSpc>
            </a:pPr>
            <a:r>
              <a:rPr lang="en-PH" sz="5400" dirty="0"/>
              <a:t>Host Server Starts</a:t>
            </a:r>
            <a:endParaRPr lang="en-US" sz="5199" b="1" dirty="0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90F6228-C7E0-F623-EF16-CDA3EACC10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409701"/>
            <a:ext cx="6794642" cy="853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41050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D62CC-AA43-3ED2-1343-9594A4F02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7503718-1C34-97E0-7FE2-162AFE35C7FC}"/>
              </a:ext>
            </a:extLst>
          </p:cNvPr>
          <p:cNvSpPr txBox="1"/>
          <p:nvPr/>
        </p:nvSpPr>
        <p:spPr>
          <a:xfrm>
            <a:off x="5638800" y="342900"/>
            <a:ext cx="11773748" cy="884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7279"/>
              </a:lnSpc>
            </a:pPr>
            <a:r>
              <a:rPr lang="en-PH" sz="5400" dirty="0"/>
              <a:t>Menu Interaction</a:t>
            </a:r>
            <a:endParaRPr lang="en-US" sz="5199" b="1" dirty="0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95AA77B-575C-59E0-CFF4-32F115BADFB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3571" r="37198"/>
          <a:stretch>
            <a:fillRect/>
          </a:stretch>
        </p:blipFill>
        <p:spPr>
          <a:xfrm>
            <a:off x="3810000" y="1790700"/>
            <a:ext cx="8153400" cy="7571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13207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67324-9476-38CA-F969-F6E2B8073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D3FB7AB-7F66-48C6-5197-980492391B4B}"/>
              </a:ext>
            </a:extLst>
          </p:cNvPr>
          <p:cNvSpPr txBox="1"/>
          <p:nvPr/>
        </p:nvSpPr>
        <p:spPr>
          <a:xfrm>
            <a:off x="7086600" y="419100"/>
            <a:ext cx="11773748" cy="8309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PH" sz="5400" b="1" dirty="0"/>
              <a:t>Discovering Files</a:t>
            </a:r>
            <a:endParaRPr lang="en-PH" sz="5400" b="1" dirty="0">
              <a:effectLst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CADDA9-35DA-124A-B834-AFF82D2FDF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400" y="1485900"/>
            <a:ext cx="7970601" cy="8359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16933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5C24E-4677-1E73-BA58-67ECE30A1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3D51119-C9FD-6DE5-109C-ECCEF29EB2C3}"/>
              </a:ext>
            </a:extLst>
          </p:cNvPr>
          <p:cNvSpPr txBox="1"/>
          <p:nvPr/>
        </p:nvSpPr>
        <p:spPr>
          <a:xfrm>
            <a:off x="7086600" y="419100"/>
            <a:ext cx="11773748" cy="8309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PH" sz="5400" dirty="0"/>
              <a:t>Network File</a:t>
            </a:r>
            <a:endParaRPr lang="en-PH" sz="5400" b="1" dirty="0">
              <a:effectLst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A38EB7F-36EA-4000-7C38-E75B6D92A5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5240" y="2781300"/>
            <a:ext cx="15358536" cy="4487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92565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A26F5-1575-7053-2F6F-C45D6D4CE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1916BE-340A-D586-AF40-AC11C8EA7E8D}"/>
              </a:ext>
            </a:extLst>
          </p:cNvPr>
          <p:cNvSpPr txBox="1"/>
          <p:nvPr/>
        </p:nvSpPr>
        <p:spPr>
          <a:xfrm>
            <a:off x="7086600" y="419100"/>
            <a:ext cx="11773748" cy="8309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PH" sz="5400" dirty="0"/>
              <a:t>Resolving Seeders</a:t>
            </a:r>
            <a:endParaRPr lang="en-PH" sz="5400" b="1" dirty="0">
              <a:effectLst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9BD643-124B-4993-192B-AD4C87CF3E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6599" y="1342494"/>
            <a:ext cx="10864865" cy="8296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62844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8DEFC-8D2F-9EA0-C5BF-393045621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2CA4879-2C2D-C667-B42E-33D15E420E99}"/>
              </a:ext>
            </a:extLst>
          </p:cNvPr>
          <p:cNvSpPr txBox="1"/>
          <p:nvPr/>
        </p:nvSpPr>
        <p:spPr>
          <a:xfrm>
            <a:off x="4800600" y="495300"/>
            <a:ext cx="11773748" cy="8309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5400" dirty="0"/>
              <a:t>Download Manager Creates a Job</a:t>
            </a:r>
            <a:endParaRPr lang="en-PH" sz="5400" b="1" dirty="0">
              <a:effectLst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1A3C223-8DCD-3F2F-DE6F-F420C122D1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485900"/>
            <a:ext cx="7991909" cy="8578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207781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09D013-CC6C-7EBD-8D2D-DFB457F85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8DB8765-7B78-3EEA-3252-F5CAD6681A68}"/>
              </a:ext>
            </a:extLst>
          </p:cNvPr>
          <p:cNvSpPr txBox="1"/>
          <p:nvPr/>
        </p:nvSpPr>
        <p:spPr>
          <a:xfrm>
            <a:off x="4800600" y="495300"/>
            <a:ext cx="11773748" cy="8309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PH" sz="5400" dirty="0"/>
              <a:t>Downloader Fetches Chunks</a:t>
            </a:r>
            <a:endParaRPr lang="en-PH" sz="5400" b="1" dirty="0">
              <a:effectLst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24AA73-DEB7-4830-816D-EE80CA99D8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0" y="1562100"/>
            <a:ext cx="8463282" cy="7302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80470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2A100-0A2B-A590-22F0-DA94F1507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7CB4987-E17C-C1D6-111B-8FE087B83E09}"/>
              </a:ext>
            </a:extLst>
          </p:cNvPr>
          <p:cNvSpPr txBox="1"/>
          <p:nvPr/>
        </p:nvSpPr>
        <p:spPr>
          <a:xfrm>
            <a:off x="7315200" y="571500"/>
            <a:ext cx="11773748" cy="8309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PH" sz="5400" dirty="0" err="1"/>
              <a:t>ChunkResult</a:t>
            </a:r>
            <a:endParaRPr lang="en-PH" sz="5400" b="1" dirty="0">
              <a:effectLst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795AA0-F27A-6E74-9C62-9F52AAB07A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3800" y="3057639"/>
            <a:ext cx="10351292" cy="3990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898362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B22840-3C9E-E509-0A46-84181CE4C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27157DF-6B4E-14C7-7FD8-24E6E5C4280D}"/>
              </a:ext>
            </a:extLst>
          </p:cNvPr>
          <p:cNvSpPr txBox="1"/>
          <p:nvPr/>
        </p:nvSpPr>
        <p:spPr>
          <a:xfrm>
            <a:off x="7315200" y="571500"/>
            <a:ext cx="11773748" cy="8309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PH" sz="5400" dirty="0"/>
              <a:t>Error Handling</a:t>
            </a:r>
            <a:endParaRPr lang="en-PH" sz="5400" b="1" dirty="0">
              <a:effectLst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46F076-1AC3-5E96-F8FE-C852F4A1C3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2800" y="2316678"/>
            <a:ext cx="9601200" cy="7375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165955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76500-FDCE-6913-8650-167AB80B90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4EB38C-61AC-9355-B844-EBC38E2E17E5}"/>
              </a:ext>
            </a:extLst>
          </p:cNvPr>
          <p:cNvSpPr txBox="1"/>
          <p:nvPr/>
        </p:nvSpPr>
        <p:spPr>
          <a:xfrm>
            <a:off x="7315200" y="571500"/>
            <a:ext cx="11773748" cy="8309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PH" sz="5400" dirty="0"/>
              <a:t>Completion</a:t>
            </a:r>
            <a:endParaRPr lang="en-PH" sz="5400" b="1" dirty="0">
              <a:effectLst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EA02D64-D886-8FE8-AD80-433099D758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1200" y="2552700"/>
            <a:ext cx="6453386" cy="5503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65089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669B5-3F6D-2CC5-A66C-BD7BBB61E5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A1637D2-F64E-DAAE-683E-38DFEC9573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400" y="647700"/>
            <a:ext cx="9144000" cy="6912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FD301C9-1583-F2EE-A0CD-60B7C7718095}"/>
              </a:ext>
            </a:extLst>
          </p:cNvPr>
          <p:cNvSpPr txBox="1"/>
          <p:nvPr/>
        </p:nvSpPr>
        <p:spPr>
          <a:xfrm>
            <a:off x="1752600" y="8496300"/>
            <a:ext cx="15050348" cy="8617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PH" sz="2800" dirty="0"/>
              <a:t>App starts → Port reserved → Host server runs → Files discovered → Seeders resolved → Download job created → Workers fetch chunks → Errors handled → File completed.</a:t>
            </a:r>
            <a:endParaRPr lang="en-PH" sz="2800" b="1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8891487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1803</Words>
  <Application>Microsoft Office PowerPoint</Application>
  <PresentationFormat>Custom</PresentationFormat>
  <Paragraphs>227</Paragraphs>
  <Slides>36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3" baseType="lpstr">
      <vt:lpstr>Canva Sans Bold Italics</vt:lpstr>
      <vt:lpstr>Canva Sans</vt:lpstr>
      <vt:lpstr>Canva Sans Bold</vt:lpstr>
      <vt:lpstr>Arial</vt:lpstr>
      <vt:lpstr>Aptos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Seed App</dc:title>
  <cp:lastModifiedBy>Mary Lynn Dela Cruz</cp:lastModifiedBy>
  <cp:revision>3</cp:revision>
  <dcterms:created xsi:type="dcterms:W3CDTF">2006-08-16T00:00:00Z</dcterms:created>
  <dcterms:modified xsi:type="dcterms:W3CDTF">2026-03-01T23:49:26Z</dcterms:modified>
  <dc:identifier>DAHCufbzpWU</dc:identifier>
</cp:coreProperties>
</file>